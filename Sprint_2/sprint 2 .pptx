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87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IN" sz="1400" b="0" i="0" u="none" strike="noStrike">
                <a:solidFill>
                  <a:srgbClr val="1B2A4A"/>
                </a:solidFill>
                <a:latin typeface="Arial"/>
              </a:rPr>
              <a:t>Sales Range (₹)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Min Sales</c:v>
                </c:pt>
                <c:pt idx="1">
                  <c:v>Avg Sales</c:v>
                </c:pt>
                <c:pt idx="2">
                  <c:v>Max Sales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100.1</c:v>
                </c:pt>
                <c:pt idx="1">
                  <c:v>2558.6799999999998</c:v>
                </c:pt>
                <c:pt idx="2">
                  <c:v>4999.87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C4-423A-AF35-F7F3CB0F947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IN" sz="1400" b="0" i="0" u="none" strike="noStrike">
                <a:solidFill>
                  <a:srgbClr val="1B2A4A"/>
                </a:solidFill>
                <a:latin typeface="Arial"/>
              </a:rPr>
              <a:t>Profit Range (₹)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(₹)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Min Profit</c:v>
                </c:pt>
                <c:pt idx="1">
                  <c:v>Avg Profit</c:v>
                </c:pt>
                <c:pt idx="2">
                  <c:v>Max Profit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5.76</c:v>
                </c:pt>
                <c:pt idx="1">
                  <c:v>447.84</c:v>
                </c:pt>
                <c:pt idx="2">
                  <c:v>1486.66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32-48C2-AE4C-457A6A44B4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B2A4A"/>
                </a:solidFill>
                <a:latin typeface="Arial"/>
              </a:rPr>
              <a:t>Sales Distribution (%)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E9B-427B-9E91-B747B957D038}"/>
              </c:ext>
            </c:extLst>
          </c:dPt>
          <c:dPt>
            <c:idx val="1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E9B-427B-9E91-B747B957D038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E9B-427B-9E91-B747B957D038}"/>
              </c:ext>
            </c:extLst>
          </c:dPt>
          <c:dPt>
            <c:idx val="3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E9B-427B-9E91-B747B957D03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9B-427B-9E91-B747B957D03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E9B-427B-9E91-B747B957D03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E9B-427B-9E91-B747B957D038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E9B-427B-9E91-B747B957D03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27</c:v>
                </c:pt>
                <c:pt idx="2">
                  <c:v>18</c:v>
                </c:pt>
                <c:pt idx="3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E9B-427B-9E91-B747B957D0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B2A4A"/>
                </a:solidFill>
                <a:latin typeface="Arial"/>
              </a:rPr>
              <a:t>Sales Volume by Region (₹ L)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 Lakhs)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E1F-4FD0-A538-4D8F31837EF3}"/>
              </c:ext>
            </c:extLst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E1F-4FD0-A538-4D8F31837EF3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E1F-4FD0-A538-4D8F31837EF3}"/>
              </c:ext>
            </c:extLst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E1F-4FD0-A538-4D8F31837EF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12.8</c:v>
                </c:pt>
                <c:pt idx="1">
                  <c:v>10.6</c:v>
                </c:pt>
                <c:pt idx="2">
                  <c:v>7.1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E1F-4FD0-A538-4D8F31837EF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IN" sz="1400" b="0" i="0" u="none" strike="noStrike">
                <a:solidFill>
                  <a:srgbClr val="1B2A4A"/>
                </a:solidFill>
                <a:latin typeface="Arial"/>
              </a:rPr>
              <a:t>Profit Share by Region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871-435C-94C2-E2930B70F35C}"/>
              </c:ext>
            </c:extLst>
          </c:dPt>
          <c:dPt>
            <c:idx val="1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871-435C-94C2-E2930B70F35C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871-435C-94C2-E2930B70F35C}"/>
              </c:ext>
            </c:extLst>
          </c:dPt>
          <c:dPt>
            <c:idx val="3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871-435C-94C2-E2930B70F35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871-435C-94C2-E2930B70F35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871-435C-94C2-E2930B70F35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871-435C-94C2-E2930B70F35C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871-435C-94C2-E2930B70F35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</c:v>
                </c:pt>
                <c:pt idx="1">
                  <c:v>28</c:v>
                </c:pt>
                <c:pt idx="2">
                  <c:v>17</c:v>
                </c:pt>
                <c:pt idx="3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871-435C-94C2-E2930B70F3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Sales (₹ Lakhs)</c:v>
                </c:pt>
              </c:strCache>
            </c:strRef>
          </c:tx>
          <c:spPr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28.5</c:v>
                </c:pt>
                <c:pt idx="1">
                  <c:v>22.3</c:v>
                </c:pt>
                <c:pt idx="2">
                  <c:v>31.2</c:v>
                </c:pt>
                <c:pt idx="3">
                  <c:v>26.8</c:v>
                </c:pt>
                <c:pt idx="4">
                  <c:v>35</c:v>
                </c:pt>
                <c:pt idx="5">
                  <c:v>30.4</c:v>
                </c:pt>
                <c:pt idx="6">
                  <c:v>33.700000000000003</c:v>
                </c:pt>
                <c:pt idx="7">
                  <c:v>29.1</c:v>
                </c:pt>
                <c:pt idx="8">
                  <c:v>38.5</c:v>
                </c:pt>
                <c:pt idx="9">
                  <c:v>34.200000000000003</c:v>
                </c:pt>
                <c:pt idx="10">
                  <c:v>42.6</c:v>
                </c:pt>
                <c:pt idx="11">
                  <c:v>48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F76-4CF4-A725-725E4CA267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4338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1887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Report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2377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Dataset Analysis &amp; KPI Dashboard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D-MART  |  FY 2024–25  |  Confidential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2286000"/>
            <a:ext cx="1828800" cy="18288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summary of DMart business metrics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34440"/>
            <a:ext cx="25603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356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15,345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2075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orders placed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72968" y="123444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234440"/>
            <a:ext cx="256032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4356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₹3.93 Cr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55848" y="2075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2377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 generated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34456" y="123444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34456" y="1234440"/>
            <a:ext cx="25603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17336" y="14356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₹68.7 L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17336" y="2075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17336" y="2377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earned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29260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2926080"/>
            <a:ext cx="25603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12724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94360" y="3767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Served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4069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 footprint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72968" y="29260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72968" y="2926080"/>
            <a:ext cx="256032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312724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3355848" y="3767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Covered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55848" y="4069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cities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34456" y="29260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34456" y="2926080"/>
            <a:ext cx="256032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17336" y="312724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₹2,559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6117336" y="3767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Sale Value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17336" y="4069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order average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Profit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min, max, and average across all orders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88720"/>
          <a:ext cx="4206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846320" y="1188720"/>
          <a:ext cx="38404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Region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performance breakdown across 4 markets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9728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54880" y="109728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Contribution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region contributes to overall profitability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05840"/>
          <a:ext cx="4572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1188720"/>
            <a:ext cx="32918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0" y="1188720"/>
            <a:ext cx="64008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0" y="12344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75120" y="1234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669280" y="15727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profit contributor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0" y="2057400"/>
            <a:ext cx="32918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0" y="2057400"/>
            <a:ext cx="64008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0" y="21031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75120" y="2103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669280" y="24414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second performer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0" y="2926080"/>
            <a:ext cx="32918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0" y="2926080"/>
            <a:ext cx="64008" cy="731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0" y="2971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675120" y="2971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669280" y="33101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market share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0" y="3794760"/>
            <a:ext cx="32918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486400" y="3794760"/>
            <a:ext cx="64008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0" y="38404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675120" y="3840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669280" y="41788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opportunity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across 12 months — identifying seasonal peaks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43000"/>
          <a:ext cx="82296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8138160" cy="749808"/>
          </a:xfrm>
          <a:prstGeom prst="rect">
            <a:avLst/>
          </a:prstGeom>
          <a:solidFill>
            <a:srgbClr val="16204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298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Growth Insights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62763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15,345 orders processed across 4 regions and 6 cities with ₹3.93 Cr in total revenue.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21408"/>
            <a:ext cx="8138160" cy="749808"/>
          </a:xfrm>
          <a:prstGeom prst="rect">
            <a:avLst/>
          </a:prstGeom>
          <a:solidFill>
            <a:srgbClr val="16204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854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Profitability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₹68.7 L total profit with seasonal peaks in Nov–Dec, signaling strong year-end demand.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008376"/>
            <a:ext cx="8138160" cy="749808"/>
          </a:xfrm>
          <a:prstGeom prst="rect">
            <a:avLst/>
          </a:prstGeom>
          <a:solidFill>
            <a:srgbClr val="16204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723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Geographic Reach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40156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region leads with 31% profit share; East is the emerging high-growth opportunity.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895344"/>
            <a:ext cx="8138160" cy="749808"/>
          </a:xfrm>
          <a:prstGeom prst="rect">
            <a:avLst/>
          </a:prstGeom>
          <a:solidFill>
            <a:srgbClr val="16204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959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Data-Driven Decisions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428853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SUMIF, COUNTIF, AVERAGEIF and SQL queries power real-time business intelligence dashboards.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D-MART  |  Performance Metrics Report  |  FY 2024–25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258</Words>
  <Application>Microsoft Office PowerPoint</Application>
  <PresentationFormat>On-screen Show (16:9)</PresentationFormat>
  <Paragraphs>73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DMart Performance Metrics Report</dc:title>
  <dc:subject>PptxGenJS Presentation</dc:subject>
  <dc:creator>PptxGenJS</dc:creator>
  <cp:lastModifiedBy>akshat ugale</cp:lastModifiedBy>
  <cp:revision>2</cp:revision>
  <dcterms:created xsi:type="dcterms:W3CDTF">2026-05-31T16:07:43Z</dcterms:created>
  <dcterms:modified xsi:type="dcterms:W3CDTF">2026-05-31T16:39:27Z</dcterms:modified>
</cp:coreProperties>
</file>