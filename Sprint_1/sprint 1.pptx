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077FA9-9AC8-4CE7-B901-8CE734FD7343}" v="5" dt="2026-05-27T10:53:44.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t ugale" userId="d79a3b3c97274f01" providerId="LiveId" clId="{50C1D5CD-AB29-419A-AD12-F8542267BD41}"/>
    <pc:docChg chg="undo redo custSel modSld">
      <pc:chgData name="akshat ugale" userId="d79a3b3c97274f01" providerId="LiveId" clId="{50C1D5CD-AB29-419A-AD12-F8542267BD41}" dt="2026-05-27T10:54:10.933" v="85" actId="1076"/>
      <pc:docMkLst>
        <pc:docMk/>
      </pc:docMkLst>
      <pc:sldChg chg="addSp delSp modSp mod">
        <pc:chgData name="akshat ugale" userId="d79a3b3c97274f01" providerId="LiveId" clId="{50C1D5CD-AB29-419A-AD12-F8542267BD41}" dt="2026-05-27T10:51:51.442" v="56" actId="339"/>
        <pc:sldMkLst>
          <pc:docMk/>
          <pc:sldMk cId="0" sldId="256"/>
        </pc:sldMkLst>
        <pc:spChg chg="add del mod">
          <ac:chgData name="akshat ugale" userId="d79a3b3c97274f01" providerId="LiveId" clId="{50C1D5CD-AB29-419A-AD12-F8542267BD41}" dt="2026-05-27T10:48:23.854" v="34" actId="478"/>
          <ac:spMkLst>
            <pc:docMk/>
            <pc:sldMk cId="0" sldId="256"/>
            <ac:spMk id="5" creationId="{00000000-0000-0000-0000-000000000000}"/>
          </ac:spMkLst>
        </pc:spChg>
        <pc:spChg chg="add del">
          <ac:chgData name="akshat ugale" userId="d79a3b3c97274f01" providerId="LiveId" clId="{50C1D5CD-AB29-419A-AD12-F8542267BD41}" dt="2026-05-27T10:48:25.677" v="35" actId="478"/>
          <ac:spMkLst>
            <pc:docMk/>
            <pc:sldMk cId="0" sldId="256"/>
            <ac:spMk id="6" creationId="{00000000-0000-0000-0000-000000000000}"/>
          </ac:spMkLst>
        </pc:spChg>
        <pc:spChg chg="mod">
          <ac:chgData name="akshat ugale" userId="d79a3b3c97274f01" providerId="LiveId" clId="{50C1D5CD-AB29-419A-AD12-F8542267BD41}" dt="2026-05-27T10:49:48.845" v="46" actId="1076"/>
          <ac:spMkLst>
            <pc:docMk/>
            <pc:sldMk cId="0" sldId="256"/>
            <ac:spMk id="7" creationId="{00000000-0000-0000-0000-000000000000}"/>
          </ac:spMkLst>
        </pc:spChg>
        <pc:spChg chg="add del mod">
          <ac:chgData name="akshat ugale" userId="d79a3b3c97274f01" providerId="LiveId" clId="{50C1D5CD-AB29-419A-AD12-F8542267BD41}" dt="2026-05-27T10:46:55.062" v="22" actId="478"/>
          <ac:spMkLst>
            <pc:docMk/>
            <pc:sldMk cId="0" sldId="256"/>
            <ac:spMk id="9" creationId="{00000000-0000-0000-0000-000000000000}"/>
          </ac:spMkLst>
        </pc:spChg>
        <pc:spChg chg="del mod">
          <ac:chgData name="akshat ugale" userId="d79a3b3c97274f01" providerId="LiveId" clId="{50C1D5CD-AB29-419A-AD12-F8542267BD41}" dt="2026-05-27T10:46:13.906" v="10" actId="478"/>
          <ac:spMkLst>
            <pc:docMk/>
            <pc:sldMk cId="0" sldId="256"/>
            <ac:spMk id="10" creationId="{00000000-0000-0000-0000-000000000000}"/>
          </ac:spMkLst>
        </pc:spChg>
        <pc:spChg chg="add del mod">
          <ac:chgData name="akshat ugale" userId="d79a3b3c97274f01" providerId="LiveId" clId="{50C1D5CD-AB29-419A-AD12-F8542267BD41}" dt="2026-05-27T10:47:16.869" v="25"/>
          <ac:spMkLst>
            <pc:docMk/>
            <pc:sldMk cId="0" sldId="256"/>
            <ac:spMk id="11" creationId="{A75ED4F9-4FDF-9DF7-C49D-271861F0343A}"/>
          </ac:spMkLst>
        </pc:spChg>
        <pc:spChg chg="add del mod">
          <ac:chgData name="akshat ugale" userId="d79a3b3c97274f01" providerId="LiveId" clId="{50C1D5CD-AB29-419A-AD12-F8542267BD41}" dt="2026-05-27T10:47:36.971" v="28"/>
          <ac:spMkLst>
            <pc:docMk/>
            <pc:sldMk cId="0" sldId="256"/>
            <ac:spMk id="12" creationId="{BAA618D7-F8D4-D76C-E290-D9ECAADA6618}"/>
          </ac:spMkLst>
        </pc:spChg>
        <pc:spChg chg="add del mod">
          <ac:chgData name="akshat ugale" userId="d79a3b3c97274f01" providerId="LiveId" clId="{50C1D5CD-AB29-419A-AD12-F8542267BD41}" dt="2026-05-27T10:49:53.647" v="47" actId="478"/>
          <ac:spMkLst>
            <pc:docMk/>
            <pc:sldMk cId="0" sldId="256"/>
            <ac:spMk id="13" creationId="{0C5ABBE1-86C8-0860-6453-BDDF8B830DFB}"/>
          </ac:spMkLst>
        </pc:spChg>
        <pc:spChg chg="add del mod">
          <ac:chgData name="akshat ugale" userId="d79a3b3c97274f01" providerId="LiveId" clId="{50C1D5CD-AB29-419A-AD12-F8542267BD41}" dt="2026-05-27T10:49:03.212" v="41"/>
          <ac:spMkLst>
            <pc:docMk/>
            <pc:sldMk cId="0" sldId="256"/>
            <ac:spMk id="14" creationId="{026066A3-4D01-D16E-68BE-1CF8BB3F80F8}"/>
          </ac:spMkLst>
        </pc:spChg>
        <pc:spChg chg="add mod">
          <ac:chgData name="akshat ugale" userId="d79a3b3c97274f01" providerId="LiveId" clId="{50C1D5CD-AB29-419A-AD12-F8542267BD41}" dt="2026-05-27T10:51:51.442" v="56" actId="339"/>
          <ac:spMkLst>
            <pc:docMk/>
            <pc:sldMk cId="0" sldId="256"/>
            <ac:spMk id="15" creationId="{96AB47CD-EFB2-A14D-D851-B9A035E90851}"/>
          </ac:spMkLst>
        </pc:spChg>
      </pc:sldChg>
      <pc:sldChg chg="modSp mod">
        <pc:chgData name="akshat ugale" userId="d79a3b3c97274f01" providerId="LiveId" clId="{50C1D5CD-AB29-419A-AD12-F8542267BD41}" dt="2026-05-27T10:52:11.080" v="57" actId="14861"/>
        <pc:sldMkLst>
          <pc:docMk/>
          <pc:sldMk cId="0" sldId="257"/>
        </pc:sldMkLst>
        <pc:spChg chg="mod">
          <ac:chgData name="akshat ugale" userId="d79a3b3c97274f01" providerId="LiveId" clId="{50C1D5CD-AB29-419A-AD12-F8542267BD41}" dt="2026-05-27T10:52:11.080" v="57" actId="14861"/>
          <ac:spMkLst>
            <pc:docMk/>
            <pc:sldMk cId="0" sldId="257"/>
            <ac:spMk id="5" creationId="{00000000-0000-0000-0000-000000000000}"/>
          </ac:spMkLst>
        </pc:spChg>
      </pc:sldChg>
      <pc:sldChg chg="modSp mod">
        <pc:chgData name="akshat ugale" userId="d79a3b3c97274f01" providerId="LiveId" clId="{50C1D5CD-AB29-419A-AD12-F8542267BD41}" dt="2026-05-27T10:51:07.350" v="55" actId="208"/>
        <pc:sldMkLst>
          <pc:docMk/>
          <pc:sldMk cId="0" sldId="261"/>
        </pc:sldMkLst>
        <pc:spChg chg="mod">
          <ac:chgData name="akshat ugale" userId="d79a3b3c97274f01" providerId="LiveId" clId="{50C1D5CD-AB29-419A-AD12-F8542267BD41}" dt="2026-05-27T10:50:48.211" v="53" actId="14100"/>
          <ac:spMkLst>
            <pc:docMk/>
            <pc:sldMk cId="0" sldId="261"/>
            <ac:spMk id="13" creationId="{00000000-0000-0000-0000-000000000000}"/>
          </ac:spMkLst>
        </pc:spChg>
        <pc:spChg chg="mod">
          <ac:chgData name="akshat ugale" userId="d79a3b3c97274f01" providerId="LiveId" clId="{50C1D5CD-AB29-419A-AD12-F8542267BD41}" dt="2026-05-27T10:51:07.350" v="55" actId="208"/>
          <ac:spMkLst>
            <pc:docMk/>
            <pc:sldMk cId="0" sldId="261"/>
            <ac:spMk id="17" creationId="{00000000-0000-0000-0000-000000000000}"/>
          </ac:spMkLst>
        </pc:spChg>
      </pc:sldChg>
      <pc:sldChg chg="delSp modSp mod">
        <pc:chgData name="akshat ugale" userId="d79a3b3c97274f01" providerId="LiveId" clId="{50C1D5CD-AB29-419A-AD12-F8542267BD41}" dt="2026-05-27T10:53:02.703" v="67" actId="1076"/>
        <pc:sldMkLst>
          <pc:docMk/>
          <pc:sldMk cId="0" sldId="262"/>
        </pc:sldMkLst>
        <pc:spChg chg="del mod">
          <ac:chgData name="akshat ugale" userId="d79a3b3c97274f01" providerId="LiveId" clId="{50C1D5CD-AB29-419A-AD12-F8542267BD41}" dt="2026-05-27T10:52:27.328" v="60" actId="478"/>
          <ac:spMkLst>
            <pc:docMk/>
            <pc:sldMk cId="0" sldId="262"/>
            <ac:spMk id="5" creationId="{00000000-0000-0000-0000-000000000000}"/>
          </ac:spMkLst>
        </pc:spChg>
        <pc:spChg chg="del mod">
          <ac:chgData name="akshat ugale" userId="d79a3b3c97274f01" providerId="LiveId" clId="{50C1D5CD-AB29-419A-AD12-F8542267BD41}" dt="2026-05-27T10:52:27.955" v="61" actId="478"/>
          <ac:spMkLst>
            <pc:docMk/>
            <pc:sldMk cId="0" sldId="262"/>
            <ac:spMk id="6" creationId="{00000000-0000-0000-0000-000000000000}"/>
          </ac:spMkLst>
        </pc:spChg>
        <pc:spChg chg="mod">
          <ac:chgData name="akshat ugale" userId="d79a3b3c97274f01" providerId="LiveId" clId="{50C1D5CD-AB29-419A-AD12-F8542267BD41}" dt="2026-05-27T10:52:34.045" v="62" actId="1076"/>
          <ac:spMkLst>
            <pc:docMk/>
            <pc:sldMk cId="0" sldId="262"/>
            <ac:spMk id="7" creationId="{00000000-0000-0000-0000-000000000000}"/>
          </ac:spMkLst>
        </pc:spChg>
        <pc:spChg chg="mod">
          <ac:chgData name="akshat ugale" userId="d79a3b3c97274f01" providerId="LiveId" clId="{50C1D5CD-AB29-419A-AD12-F8542267BD41}" dt="2026-05-27T10:52:46.378" v="64" actId="1076"/>
          <ac:spMkLst>
            <pc:docMk/>
            <pc:sldMk cId="0" sldId="262"/>
            <ac:spMk id="8" creationId="{00000000-0000-0000-0000-000000000000}"/>
          </ac:spMkLst>
        </pc:spChg>
        <pc:spChg chg="mod">
          <ac:chgData name="akshat ugale" userId="d79a3b3c97274f01" providerId="LiveId" clId="{50C1D5CD-AB29-419A-AD12-F8542267BD41}" dt="2026-05-27T10:52:50.277" v="65" actId="1076"/>
          <ac:spMkLst>
            <pc:docMk/>
            <pc:sldMk cId="0" sldId="262"/>
            <ac:spMk id="9" creationId="{00000000-0000-0000-0000-000000000000}"/>
          </ac:spMkLst>
        </pc:spChg>
        <pc:spChg chg="mod">
          <ac:chgData name="akshat ugale" userId="d79a3b3c97274f01" providerId="LiveId" clId="{50C1D5CD-AB29-419A-AD12-F8542267BD41}" dt="2026-05-27T10:52:57.723" v="66" actId="1076"/>
          <ac:spMkLst>
            <pc:docMk/>
            <pc:sldMk cId="0" sldId="262"/>
            <ac:spMk id="10" creationId="{00000000-0000-0000-0000-000000000000}"/>
          </ac:spMkLst>
        </pc:spChg>
        <pc:spChg chg="mod">
          <ac:chgData name="akshat ugale" userId="d79a3b3c97274f01" providerId="LiveId" clId="{50C1D5CD-AB29-419A-AD12-F8542267BD41}" dt="2026-05-27T10:53:02.703" v="67" actId="1076"/>
          <ac:spMkLst>
            <pc:docMk/>
            <pc:sldMk cId="0" sldId="262"/>
            <ac:spMk id="11" creationId="{00000000-0000-0000-0000-000000000000}"/>
          </ac:spMkLst>
        </pc:spChg>
        <pc:spChg chg="mod">
          <ac:chgData name="akshat ugale" userId="d79a3b3c97274f01" providerId="LiveId" clId="{50C1D5CD-AB29-419A-AD12-F8542267BD41}" dt="2026-05-27T10:52:38.837" v="63" actId="1076"/>
          <ac:spMkLst>
            <pc:docMk/>
            <pc:sldMk cId="0" sldId="262"/>
            <ac:spMk id="12" creationId="{00000000-0000-0000-0000-000000000000}"/>
          </ac:spMkLst>
        </pc:spChg>
      </pc:sldChg>
      <pc:sldChg chg="addSp delSp modSp mod">
        <pc:chgData name="akshat ugale" userId="d79a3b3c97274f01" providerId="LiveId" clId="{50C1D5CD-AB29-419A-AD12-F8542267BD41}" dt="2026-05-27T10:54:10.933" v="85" actId="1076"/>
        <pc:sldMkLst>
          <pc:docMk/>
          <pc:sldMk cId="0" sldId="266"/>
        </pc:sldMkLst>
        <pc:spChg chg="del mod">
          <ac:chgData name="akshat ugale" userId="d79a3b3c97274f01" providerId="LiveId" clId="{50C1D5CD-AB29-419A-AD12-F8542267BD41}" dt="2026-05-27T10:53:17.161" v="69" actId="478"/>
          <ac:spMkLst>
            <pc:docMk/>
            <pc:sldMk cId="0" sldId="266"/>
            <ac:spMk id="3" creationId="{00000000-0000-0000-0000-000000000000}"/>
          </ac:spMkLst>
        </pc:spChg>
        <pc:spChg chg="del">
          <ac:chgData name="akshat ugale" userId="d79a3b3c97274f01" providerId="LiveId" clId="{50C1D5CD-AB29-419A-AD12-F8542267BD41}" dt="2026-05-27T10:53:16.029" v="68" actId="478"/>
          <ac:spMkLst>
            <pc:docMk/>
            <pc:sldMk cId="0" sldId="266"/>
            <ac:spMk id="4" creationId="{00000000-0000-0000-0000-000000000000}"/>
          </ac:spMkLst>
        </pc:spChg>
        <pc:spChg chg="mod">
          <ac:chgData name="akshat ugale" userId="d79a3b3c97274f01" providerId="LiveId" clId="{50C1D5CD-AB29-419A-AD12-F8542267BD41}" dt="2026-05-27T10:54:05.719" v="84" actId="20577"/>
          <ac:spMkLst>
            <pc:docMk/>
            <pc:sldMk cId="0" sldId="266"/>
            <ac:spMk id="6" creationId="{00000000-0000-0000-0000-000000000000}"/>
          </ac:spMkLst>
        </pc:spChg>
        <pc:spChg chg="add mod">
          <ac:chgData name="akshat ugale" userId="d79a3b3c97274f01" providerId="LiveId" clId="{50C1D5CD-AB29-419A-AD12-F8542267BD41}" dt="2026-05-27T10:54:10.933" v="85" actId="1076"/>
          <ac:spMkLst>
            <pc:docMk/>
            <pc:sldMk cId="0" sldId="266"/>
            <ac:spMk id="8" creationId="{B6D82C08-DD7F-19E7-5E8D-BA0F8075496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1740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5A32"/>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164592"/>
          </a:xfrm>
          <a:prstGeom prst="rect">
            <a:avLst/>
          </a:prstGeom>
          <a:solidFill>
            <a:srgbClr val="27AE60"/>
          </a:solidFill>
          <a:ln w="12700">
            <a:solidFill>
              <a:srgbClr val="27AE60"/>
            </a:solidFill>
            <a:prstDash val="solid"/>
          </a:ln>
        </p:spPr>
      </p:sp>
      <p:sp>
        <p:nvSpPr>
          <p:cNvPr id="3" name="Shape 1"/>
          <p:cNvSpPr/>
          <p:nvPr/>
        </p:nvSpPr>
        <p:spPr>
          <a:xfrm>
            <a:off x="0" y="6693408"/>
            <a:ext cx="5943600" cy="164592"/>
          </a:xfrm>
          <a:prstGeom prst="rect">
            <a:avLst/>
          </a:prstGeom>
          <a:solidFill>
            <a:srgbClr val="1E8449"/>
          </a:solidFill>
          <a:ln w="12700">
            <a:solidFill>
              <a:srgbClr val="1E8449"/>
            </a:solidFill>
            <a:prstDash val="solid"/>
          </a:ln>
        </p:spPr>
      </p:sp>
      <p:pic>
        <p:nvPicPr>
          <p:cNvPr id="4"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7" name="Text 4"/>
          <p:cNvSpPr/>
          <p:nvPr/>
        </p:nvSpPr>
        <p:spPr>
          <a:xfrm>
            <a:off x="472440" y="1432675"/>
            <a:ext cx="11247120" cy="2224925"/>
          </a:xfrm>
          <a:prstGeom prst="rect">
            <a:avLst/>
          </a:prstGeom>
          <a:noFill/>
          <a:ln/>
          <a:effectLst>
            <a:outerShdw blurRad="127000" dist="38100" dir="16200000" algn="bl" rotWithShape="0">
              <a:srgbClr val="000000">
                <a:alpha val="75000"/>
              </a:srgbClr>
            </a:outerShdw>
          </a:effectLst>
        </p:spPr>
        <p:txBody>
          <a:bodyPr wrap="square" rtlCol="0" anchor="ctr"/>
          <a:lstStyle/>
          <a:p>
            <a:pPr marL="0" indent="0" algn="ctr">
              <a:buNone/>
            </a:pPr>
            <a:r>
              <a:rPr lang="en-US" sz="4800" b="1" dirty="0">
                <a:solidFill>
                  <a:srgbClr val="FFFFFF"/>
                </a:solidFill>
                <a:latin typeface="Arial Black" pitchFamily="34" charset="0"/>
                <a:ea typeface="Arial Black" pitchFamily="34" charset="-122"/>
                <a:cs typeface="Arial Black" pitchFamily="34" charset="-120"/>
              </a:rPr>
              <a:t>Dmart Product Sales</a:t>
            </a:r>
            <a:endParaRPr lang="en-US" sz="4800" dirty="0"/>
          </a:p>
          <a:p>
            <a:pPr marL="0" indent="0" algn="ctr">
              <a:buNone/>
            </a:pPr>
            <a:r>
              <a:rPr lang="en-US" sz="4800" b="1" dirty="0">
                <a:solidFill>
                  <a:srgbClr val="FFFFFF"/>
                </a:solidFill>
                <a:latin typeface="Arial Black" pitchFamily="34" charset="0"/>
                <a:ea typeface="Arial Black" pitchFamily="34" charset="-122"/>
                <a:cs typeface="Arial Black" pitchFamily="34" charset="-120"/>
              </a:rPr>
              <a:t>Data Analytics Report</a:t>
            </a:r>
            <a:endParaRPr lang="en-US" sz="4800" dirty="0"/>
          </a:p>
        </p:txBody>
      </p:sp>
      <p:sp>
        <p:nvSpPr>
          <p:cNvPr id="8" name="Text 5"/>
          <p:cNvSpPr/>
          <p:nvPr/>
        </p:nvSpPr>
        <p:spPr>
          <a:xfrm>
            <a:off x="3200400" y="3840480"/>
            <a:ext cx="5760720" cy="1097280"/>
          </a:xfrm>
          <a:prstGeom prst="rect">
            <a:avLst/>
          </a:prstGeom>
          <a:noFill/>
          <a:ln/>
        </p:spPr>
        <p:txBody>
          <a:bodyPr wrap="square" rtlCol="0" anchor="ctr"/>
          <a:lstStyle/>
          <a:p>
            <a:pPr marL="0" indent="0" algn="ctr">
              <a:buNone/>
            </a:pPr>
            <a:r>
              <a:rPr lang="en-US" sz="1400" dirty="0">
                <a:solidFill>
                  <a:srgbClr val="E8F5E9"/>
                </a:solidFill>
                <a:latin typeface="Calibri" pitchFamily="34" charset="0"/>
                <a:ea typeface="Calibri" pitchFamily="34" charset="-122"/>
                <a:cs typeface="Calibri" pitchFamily="34" charset="-120"/>
              </a:rPr>
              <a:t>Retail Sector Management Insights</a:t>
            </a:r>
            <a:endParaRPr lang="en-US" sz="1400" dirty="0"/>
          </a:p>
          <a:p>
            <a:pPr marL="0" indent="0" algn="ctr">
              <a:buNone/>
            </a:pPr>
            <a:r>
              <a:rPr lang="en-US" sz="1400" dirty="0">
                <a:solidFill>
                  <a:srgbClr val="E8F5E9"/>
                </a:solidFill>
                <a:latin typeface="Calibri" pitchFamily="34" charset="0"/>
                <a:ea typeface="Calibri" pitchFamily="34" charset="-122"/>
                <a:cs typeface="Calibri" pitchFamily="34" charset="-120"/>
              </a:rPr>
              <a:t>Presented by: Analytics Team</a:t>
            </a:r>
            <a:endParaRPr lang="en-US" sz="1400" dirty="0"/>
          </a:p>
          <a:p>
            <a:pPr marL="0" indent="0" algn="ctr">
              <a:buNone/>
            </a:pPr>
            <a:r>
              <a:rPr lang="en-US" sz="1400" dirty="0">
                <a:solidFill>
                  <a:srgbClr val="E8F5E9"/>
                </a:solidFill>
                <a:latin typeface="Calibri" pitchFamily="34" charset="0"/>
                <a:ea typeface="Calibri" pitchFamily="34" charset="-122"/>
                <a:cs typeface="Calibri" pitchFamily="34" charset="-120"/>
              </a:rPr>
              <a:t>Date: January 2024</a:t>
            </a:r>
            <a:endParaRPr lang="en-US" sz="1400" dirty="0"/>
          </a:p>
        </p:txBody>
      </p:sp>
      <p:sp>
        <p:nvSpPr>
          <p:cNvPr id="15" name="Rectangle: Rounded Corners 14">
            <a:extLst>
              <a:ext uri="{FF2B5EF4-FFF2-40B4-BE49-F238E27FC236}">
                <a16:creationId xmlns:a16="http://schemas.microsoft.com/office/drawing/2014/main" id="{96AB47CD-EFB2-A14D-D851-B9A035E90851}"/>
              </a:ext>
            </a:extLst>
          </p:cNvPr>
          <p:cNvSpPr/>
          <p:nvPr/>
        </p:nvSpPr>
        <p:spPr>
          <a:xfrm>
            <a:off x="1874520" y="1097280"/>
            <a:ext cx="8649706" cy="4663440"/>
          </a:xfrm>
          <a:prstGeom prst="roundRect">
            <a:avLst/>
          </a:prstGeom>
          <a:noFill/>
          <a:ln w="9525"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5A32"/>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164592"/>
          </a:xfrm>
          <a:prstGeom prst="rect">
            <a:avLst/>
          </a:prstGeom>
          <a:solidFill>
            <a:srgbClr val="27AE60"/>
          </a:solidFill>
          <a:ln w="12700">
            <a:solidFill>
              <a:srgbClr val="27AE60"/>
            </a:solidFill>
            <a:prstDash val="solid"/>
          </a:ln>
        </p:spPr>
      </p:sp>
      <p:sp>
        <p:nvSpPr>
          <p:cNvPr id="3" name="Shape 1"/>
          <p:cNvSpPr/>
          <p:nvPr/>
        </p:nvSpPr>
        <p:spPr>
          <a:xfrm>
            <a:off x="0" y="6693408"/>
            <a:ext cx="5943600" cy="164592"/>
          </a:xfrm>
          <a:prstGeom prst="rect">
            <a:avLst/>
          </a:prstGeom>
          <a:solidFill>
            <a:srgbClr val="1E8449"/>
          </a:solidFill>
          <a:ln w="12700">
            <a:solidFill>
              <a:srgbClr val="1E8449"/>
            </a:solidFill>
            <a:prstDash val="solid"/>
          </a:ln>
        </p:spPr>
      </p:sp>
      <p:pic>
        <p:nvPicPr>
          <p:cNvPr id="4"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5" name="Shape 2"/>
          <p:cNvSpPr/>
          <p:nvPr/>
        </p:nvSpPr>
        <p:spPr>
          <a:xfrm>
            <a:off x="7315200" y="1371600"/>
            <a:ext cx="4114800" cy="4114800"/>
          </a:xfrm>
          <a:prstGeom prst="rightArrow">
            <a:avLst/>
          </a:prstGeom>
          <a:solidFill>
            <a:srgbClr val="27AE60">
              <a:alpha val="70000"/>
            </a:srgbClr>
          </a:solidFill>
          <a:ln w="25400">
            <a:solidFill>
              <a:srgbClr val="1E8449"/>
            </a:solidFill>
            <a:prstDash val="solid"/>
          </a:ln>
          <a:effectLst>
            <a:outerShdw blurRad="50800" dist="38100" dir="18900000" algn="bl" rotWithShape="0">
              <a:prstClr val="black">
                <a:alpha val="40000"/>
              </a:prstClr>
            </a:outerShdw>
          </a:effectLst>
        </p:spPr>
      </p:sp>
      <p:sp>
        <p:nvSpPr>
          <p:cNvPr id="6" name="Text 3"/>
          <p:cNvSpPr/>
          <p:nvPr/>
        </p:nvSpPr>
        <p:spPr>
          <a:xfrm>
            <a:off x="457200" y="1097280"/>
            <a:ext cx="6583680" cy="1645920"/>
          </a:xfrm>
          <a:prstGeom prst="rect">
            <a:avLst/>
          </a:prstGeom>
          <a:noFill/>
          <a:ln/>
        </p:spPr>
        <p:txBody>
          <a:bodyPr wrap="square"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Business Context</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and Objectives</a:t>
            </a:r>
            <a:endParaRPr lang="en-US" sz="4000" dirty="0"/>
          </a:p>
        </p:txBody>
      </p:sp>
      <p:sp>
        <p:nvSpPr>
          <p:cNvPr id="7" name="Text 4"/>
          <p:cNvSpPr/>
          <p:nvPr/>
        </p:nvSpPr>
        <p:spPr>
          <a:xfrm>
            <a:off x="457200" y="3017520"/>
            <a:ext cx="6400800" cy="2560320"/>
          </a:xfrm>
          <a:prstGeom prst="rect">
            <a:avLst/>
          </a:prstGeom>
          <a:noFill/>
          <a:ln/>
        </p:spPr>
        <p:txBody>
          <a:bodyPr wrap="square" rtlCol="0" anchor="ctr"/>
          <a:lstStyle/>
          <a:p>
            <a:pPr marL="0" indent="0" algn="just">
              <a:buNone/>
            </a:pPr>
            <a:r>
              <a:rPr lang="en-US" sz="1500" dirty="0">
                <a:solidFill>
                  <a:srgbClr val="E8F5E9"/>
                </a:solidFill>
                <a:latin typeface="Calibri" pitchFamily="34" charset="0"/>
                <a:ea typeface="Calibri" pitchFamily="34" charset="-122"/>
                <a:cs typeface="Calibri" pitchFamily="34" charset="-120"/>
              </a:rPr>
              <a:t>This report aims to understand key performance metrics related to Dmart product sales across retail operations. By analyzing sales and revenue patterns, we identify opportunities for sustainable business growth. Our data-driven insights support retail sector management in making informed strategic decisions.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3D1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27AE60"/>
          </a:solidFill>
          <a:ln w="12700">
            <a:solidFill>
              <a:srgbClr val="27AE60"/>
            </a:solidFill>
            <a:prstDash val="solid"/>
          </a:ln>
        </p:spPr>
      </p:sp>
      <p:pic>
        <p:nvPicPr>
          <p:cNvPr id="3"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4" name="Text 1"/>
          <p:cNvSpPr/>
          <p:nvPr/>
        </p:nvSpPr>
        <p:spPr>
          <a:xfrm>
            <a:off x="457200" y="1097280"/>
            <a:ext cx="5486400" cy="2286000"/>
          </a:xfrm>
          <a:prstGeom prst="rect">
            <a:avLst/>
          </a:prstGeom>
          <a:noFill/>
          <a:ln/>
        </p:spPr>
        <p:txBody>
          <a:bodyPr wrap="square" rtlCol="0" anchor="ctr"/>
          <a:lstStyle/>
          <a:p>
            <a:pPr marL="0" indent="0">
              <a:buNone/>
            </a:pPr>
            <a:r>
              <a:rPr lang="en-US" sz="4400" b="1" dirty="0">
                <a:solidFill>
                  <a:srgbClr val="FFFFFF"/>
                </a:solidFill>
                <a:latin typeface="Arial Black" pitchFamily="34" charset="0"/>
                <a:ea typeface="Arial Black" pitchFamily="34" charset="-122"/>
                <a:cs typeface="Arial Black" pitchFamily="34" charset="-120"/>
              </a:rPr>
              <a:t>Problem</a:t>
            </a:r>
            <a:endParaRPr lang="en-US" sz="4400" dirty="0"/>
          </a:p>
          <a:p>
            <a:pPr marL="0" indent="0">
              <a:buNone/>
            </a:pPr>
            <a:r>
              <a:rPr lang="en-US" sz="4400" b="1" dirty="0">
                <a:solidFill>
                  <a:srgbClr val="FFFFFF"/>
                </a:solidFill>
                <a:latin typeface="Arial Black" pitchFamily="34" charset="0"/>
                <a:ea typeface="Arial Black" pitchFamily="34" charset="-122"/>
                <a:cs typeface="Arial Black" pitchFamily="34" charset="-120"/>
              </a:rPr>
              <a:t>Statements</a:t>
            </a:r>
            <a:endParaRPr lang="en-US" sz="4400" dirty="0"/>
          </a:p>
        </p:txBody>
      </p:sp>
      <p:sp>
        <p:nvSpPr>
          <p:cNvPr id="5" name="Text 2"/>
          <p:cNvSpPr/>
          <p:nvPr/>
        </p:nvSpPr>
        <p:spPr>
          <a:xfrm>
            <a:off x="6217920" y="1371600"/>
            <a:ext cx="5669280" cy="365760"/>
          </a:xfrm>
          <a:prstGeom prst="rect">
            <a:avLst/>
          </a:prstGeom>
          <a:noFill/>
          <a:ln/>
        </p:spPr>
        <p:txBody>
          <a:bodyPr wrap="square" rtlCol="0" anchor="ctr"/>
          <a:lstStyle/>
          <a:p>
            <a:pPr marL="0" indent="0">
              <a:buNone/>
            </a:pPr>
            <a:r>
              <a:rPr lang="en-US" sz="1300" b="1" dirty="0">
                <a:solidFill>
                  <a:srgbClr val="58D68D"/>
                </a:solidFill>
                <a:latin typeface="Calibri" pitchFamily="34" charset="0"/>
                <a:ea typeface="Calibri" pitchFamily="34" charset="-122"/>
                <a:cs typeface="Calibri" pitchFamily="34" charset="-120"/>
              </a:rPr>
              <a:t>Key challenges addressed in this analysis:</a:t>
            </a:r>
            <a:endParaRPr lang="en-US" sz="1300" dirty="0"/>
          </a:p>
        </p:txBody>
      </p:sp>
      <p:sp>
        <p:nvSpPr>
          <p:cNvPr id="6" name="Shape 3"/>
          <p:cNvSpPr/>
          <p:nvPr/>
        </p:nvSpPr>
        <p:spPr>
          <a:xfrm>
            <a:off x="6217920" y="1920240"/>
            <a:ext cx="201168" cy="201168"/>
          </a:xfrm>
          <a:prstGeom prst="ellipse">
            <a:avLst/>
          </a:prstGeom>
          <a:solidFill>
            <a:srgbClr val="27AE60"/>
          </a:solidFill>
          <a:ln w="12700">
            <a:solidFill>
              <a:srgbClr val="27AE60"/>
            </a:solidFill>
            <a:prstDash val="solid"/>
          </a:ln>
        </p:spPr>
      </p:sp>
      <p:sp>
        <p:nvSpPr>
          <p:cNvPr id="7" name="Text 4"/>
          <p:cNvSpPr/>
          <p:nvPr/>
        </p:nvSpPr>
        <p:spPr>
          <a:xfrm>
            <a:off x="6537960" y="1874520"/>
            <a:ext cx="5303520" cy="685800"/>
          </a:xfrm>
          <a:prstGeom prst="rect">
            <a:avLst/>
          </a:prstGeom>
          <a:noFill/>
          <a:ln/>
        </p:spPr>
        <p:txBody>
          <a:bodyPr wrap="square" rtlCol="0" anchor="ctr"/>
          <a:lstStyle/>
          <a:p>
            <a:pPr marL="0" indent="0">
              <a:buNone/>
            </a:pPr>
            <a:r>
              <a:rPr lang="en-US" sz="1300" dirty="0">
                <a:solidFill>
                  <a:srgbClr val="E8F5E9"/>
                </a:solidFill>
                <a:latin typeface="Calibri" pitchFamily="34" charset="0"/>
                <a:ea typeface="Calibri" pitchFamily="34" charset="-122"/>
                <a:cs typeface="Calibri" pitchFamily="34" charset="-120"/>
              </a:rPr>
              <a:t>Identifying performance gaps in product sales across categories and regions</a:t>
            </a:r>
            <a:endParaRPr lang="en-US" sz="1300" dirty="0"/>
          </a:p>
        </p:txBody>
      </p:sp>
      <p:sp>
        <p:nvSpPr>
          <p:cNvPr id="8" name="Shape 5"/>
          <p:cNvSpPr/>
          <p:nvPr/>
        </p:nvSpPr>
        <p:spPr>
          <a:xfrm>
            <a:off x="6217920" y="2743200"/>
            <a:ext cx="201168" cy="201168"/>
          </a:xfrm>
          <a:prstGeom prst="ellipse">
            <a:avLst/>
          </a:prstGeom>
          <a:solidFill>
            <a:srgbClr val="27AE60"/>
          </a:solidFill>
          <a:ln w="12700">
            <a:solidFill>
              <a:srgbClr val="27AE60"/>
            </a:solidFill>
            <a:prstDash val="solid"/>
          </a:ln>
        </p:spPr>
      </p:sp>
      <p:sp>
        <p:nvSpPr>
          <p:cNvPr id="9" name="Text 6"/>
          <p:cNvSpPr/>
          <p:nvPr/>
        </p:nvSpPr>
        <p:spPr>
          <a:xfrm>
            <a:off x="6537960" y="2697480"/>
            <a:ext cx="5303520" cy="685800"/>
          </a:xfrm>
          <a:prstGeom prst="rect">
            <a:avLst/>
          </a:prstGeom>
          <a:noFill/>
          <a:ln/>
        </p:spPr>
        <p:txBody>
          <a:bodyPr wrap="square" rtlCol="0" anchor="ctr"/>
          <a:lstStyle/>
          <a:p>
            <a:pPr marL="0" indent="0">
              <a:buNone/>
            </a:pPr>
            <a:r>
              <a:rPr lang="en-US" sz="1300" dirty="0">
                <a:solidFill>
                  <a:srgbClr val="E8F5E9"/>
                </a:solidFill>
                <a:latin typeface="Calibri" pitchFamily="34" charset="0"/>
                <a:ea typeface="Calibri" pitchFamily="34" charset="-122"/>
                <a:cs typeface="Calibri" pitchFamily="34" charset="-120"/>
              </a:rPr>
              <a:t>Understanding revenue trends and underlying drivers affecting profitability</a:t>
            </a:r>
            <a:endParaRPr lang="en-US" sz="1300" dirty="0"/>
          </a:p>
        </p:txBody>
      </p:sp>
      <p:sp>
        <p:nvSpPr>
          <p:cNvPr id="10" name="Shape 7"/>
          <p:cNvSpPr/>
          <p:nvPr/>
        </p:nvSpPr>
        <p:spPr>
          <a:xfrm>
            <a:off x="6217920" y="3566160"/>
            <a:ext cx="201168" cy="201168"/>
          </a:xfrm>
          <a:prstGeom prst="ellipse">
            <a:avLst/>
          </a:prstGeom>
          <a:solidFill>
            <a:srgbClr val="27AE60"/>
          </a:solidFill>
          <a:ln w="12700">
            <a:solidFill>
              <a:srgbClr val="27AE60"/>
            </a:solidFill>
            <a:prstDash val="solid"/>
          </a:ln>
        </p:spPr>
      </p:sp>
      <p:sp>
        <p:nvSpPr>
          <p:cNvPr id="11" name="Text 8"/>
          <p:cNvSpPr/>
          <p:nvPr/>
        </p:nvSpPr>
        <p:spPr>
          <a:xfrm>
            <a:off x="6537960" y="3520440"/>
            <a:ext cx="5303520" cy="685800"/>
          </a:xfrm>
          <a:prstGeom prst="rect">
            <a:avLst/>
          </a:prstGeom>
          <a:noFill/>
          <a:ln/>
        </p:spPr>
        <p:txBody>
          <a:bodyPr wrap="square" rtlCol="0" anchor="ctr"/>
          <a:lstStyle/>
          <a:p>
            <a:pPr marL="0" indent="0">
              <a:buNone/>
            </a:pPr>
            <a:r>
              <a:rPr lang="en-US" sz="1300" dirty="0">
                <a:solidFill>
                  <a:srgbClr val="E8F5E9"/>
                </a:solidFill>
                <a:latin typeface="Calibri" pitchFamily="34" charset="0"/>
                <a:ea typeface="Calibri" pitchFamily="34" charset="-122"/>
                <a:cs typeface="Calibri" pitchFamily="34" charset="-120"/>
              </a:rPr>
              <a:t>Root cause analysis of sales fluctuations and seasonal variations</a:t>
            </a:r>
            <a:endParaRPr lang="en-US" sz="1300" dirty="0"/>
          </a:p>
        </p:txBody>
      </p:sp>
      <p:sp>
        <p:nvSpPr>
          <p:cNvPr id="12" name="Shape 9"/>
          <p:cNvSpPr/>
          <p:nvPr/>
        </p:nvSpPr>
        <p:spPr>
          <a:xfrm>
            <a:off x="6217920" y="4389120"/>
            <a:ext cx="201168" cy="201168"/>
          </a:xfrm>
          <a:prstGeom prst="ellipse">
            <a:avLst/>
          </a:prstGeom>
          <a:solidFill>
            <a:srgbClr val="27AE60"/>
          </a:solidFill>
          <a:ln w="12700">
            <a:solidFill>
              <a:srgbClr val="27AE60"/>
            </a:solidFill>
            <a:prstDash val="solid"/>
          </a:ln>
        </p:spPr>
      </p:sp>
      <p:sp>
        <p:nvSpPr>
          <p:cNvPr id="13" name="Text 10"/>
          <p:cNvSpPr/>
          <p:nvPr/>
        </p:nvSpPr>
        <p:spPr>
          <a:xfrm>
            <a:off x="6537960" y="4343400"/>
            <a:ext cx="5303520" cy="685800"/>
          </a:xfrm>
          <a:prstGeom prst="rect">
            <a:avLst/>
          </a:prstGeom>
          <a:noFill/>
          <a:ln/>
        </p:spPr>
        <p:txBody>
          <a:bodyPr wrap="square" rtlCol="0" anchor="ctr"/>
          <a:lstStyle/>
          <a:p>
            <a:pPr marL="0" indent="0">
              <a:buNone/>
            </a:pPr>
            <a:r>
              <a:rPr lang="en-US" sz="1300" dirty="0">
                <a:solidFill>
                  <a:srgbClr val="E8F5E9"/>
                </a:solidFill>
                <a:latin typeface="Calibri" pitchFamily="34" charset="0"/>
                <a:ea typeface="Calibri" pitchFamily="34" charset="-122"/>
                <a:cs typeface="Calibri" pitchFamily="34" charset="-120"/>
              </a:rPr>
              <a:t>Evaluating product portfolio effectiveness via BCG and ROI models</a:t>
            </a:r>
            <a:endParaRPr lang="en-US" sz="1300" dirty="0"/>
          </a:p>
        </p:txBody>
      </p:sp>
      <p:sp>
        <p:nvSpPr>
          <p:cNvPr id="14" name="Shape 11"/>
          <p:cNvSpPr/>
          <p:nvPr/>
        </p:nvSpPr>
        <p:spPr>
          <a:xfrm>
            <a:off x="0" y="5303520"/>
            <a:ext cx="12188952" cy="1554480"/>
          </a:xfrm>
          <a:prstGeom prst="rect">
            <a:avLst/>
          </a:prstGeom>
          <a:solidFill>
            <a:srgbClr val="1E8449">
              <a:alpha val="80000"/>
            </a:srgbClr>
          </a:solidFill>
          <a:ln w="12700">
            <a:solidFill>
              <a:srgbClr val="1E8449"/>
            </a:solidFill>
            <a:prstDash val="solid"/>
          </a:ln>
        </p:spPr>
      </p:sp>
      <p:sp>
        <p:nvSpPr>
          <p:cNvPr id="15" name="Text 12"/>
          <p:cNvSpPr/>
          <p:nvPr/>
        </p:nvSpPr>
        <p:spPr>
          <a:xfrm>
            <a:off x="457200" y="5486400"/>
            <a:ext cx="11247120" cy="731520"/>
          </a:xfrm>
          <a:prstGeom prst="rect">
            <a:avLst/>
          </a:prstGeom>
          <a:noFill/>
          <a:ln/>
        </p:spPr>
        <p:txBody>
          <a:bodyPr wrap="square" rtlCol="0" anchor="ctr"/>
          <a:lstStyle/>
          <a:p>
            <a:pPr marL="0" indent="0" algn="ctr">
              <a:buNone/>
            </a:pPr>
            <a:r>
              <a:rPr lang="en-US" sz="2200" b="1" dirty="0">
                <a:solidFill>
                  <a:srgbClr val="58D68D"/>
                </a:solidFill>
                <a:latin typeface="Calibri" pitchFamily="34" charset="0"/>
                <a:ea typeface="Calibri" pitchFamily="34" charset="-122"/>
                <a:cs typeface="Calibri" pitchFamily="34" charset="-120"/>
              </a:rPr>
              <a:t>Data-Driven Insights for Retail Excellence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5A32"/>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164592"/>
          </a:xfrm>
          <a:prstGeom prst="rect">
            <a:avLst/>
          </a:prstGeom>
          <a:solidFill>
            <a:srgbClr val="27AE60"/>
          </a:solidFill>
          <a:ln w="12700">
            <a:solidFill>
              <a:srgbClr val="27AE60"/>
            </a:solidFill>
            <a:prstDash val="solid"/>
          </a:ln>
        </p:spPr>
      </p:sp>
      <p:sp>
        <p:nvSpPr>
          <p:cNvPr id="3" name="Shape 1"/>
          <p:cNvSpPr/>
          <p:nvPr/>
        </p:nvSpPr>
        <p:spPr>
          <a:xfrm>
            <a:off x="0" y="6693408"/>
            <a:ext cx="5943600" cy="164592"/>
          </a:xfrm>
          <a:prstGeom prst="rect">
            <a:avLst/>
          </a:prstGeom>
          <a:solidFill>
            <a:srgbClr val="1E8449"/>
          </a:solidFill>
          <a:ln w="12700">
            <a:solidFill>
              <a:srgbClr val="1E8449"/>
            </a:solidFill>
            <a:prstDash val="solid"/>
          </a:ln>
        </p:spPr>
      </p:sp>
      <p:pic>
        <p:nvPicPr>
          <p:cNvPr id="4"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5" name="Text 2"/>
          <p:cNvSpPr/>
          <p:nvPr/>
        </p:nvSpPr>
        <p:spPr>
          <a:xfrm>
            <a:off x="6217920" y="914400"/>
            <a:ext cx="5669280" cy="1828800"/>
          </a:xfrm>
          <a:prstGeom prst="rect">
            <a:avLst/>
          </a:prstGeom>
          <a:noFill/>
          <a:ln/>
        </p:spPr>
        <p:txBody>
          <a:bodyPr wrap="square" rtlCol="0" anchor="ctr"/>
          <a:lstStyle/>
          <a:p>
            <a:pPr marL="0" indent="0">
              <a:buNone/>
            </a:pPr>
            <a:r>
              <a:rPr lang="en-US" sz="4400" b="1" dirty="0">
                <a:solidFill>
                  <a:srgbClr val="FFFFFF"/>
                </a:solidFill>
                <a:latin typeface="Arial Black" pitchFamily="34" charset="0"/>
                <a:ea typeface="Arial Black" pitchFamily="34" charset="-122"/>
                <a:cs typeface="Arial Black" pitchFamily="34" charset="-120"/>
              </a:rPr>
              <a:t>Dataset</a:t>
            </a:r>
            <a:endParaRPr lang="en-US" sz="4400" dirty="0"/>
          </a:p>
          <a:p>
            <a:pPr marL="0" indent="0">
              <a:buNone/>
            </a:pPr>
            <a:r>
              <a:rPr lang="en-US" sz="4400" b="1" dirty="0">
                <a:solidFill>
                  <a:srgbClr val="FFFFFF"/>
                </a:solidFill>
                <a:latin typeface="Arial Black" pitchFamily="34" charset="0"/>
                <a:ea typeface="Arial Black" pitchFamily="34" charset="-122"/>
                <a:cs typeface="Arial Black" pitchFamily="34" charset="-120"/>
              </a:rPr>
              <a:t>Overview</a:t>
            </a:r>
            <a:endParaRPr lang="en-US" sz="4400" dirty="0"/>
          </a:p>
        </p:txBody>
      </p:sp>
      <p:sp>
        <p:nvSpPr>
          <p:cNvPr id="6" name="Text 3"/>
          <p:cNvSpPr/>
          <p:nvPr/>
        </p:nvSpPr>
        <p:spPr>
          <a:xfrm>
            <a:off x="6217920" y="2926080"/>
            <a:ext cx="5669280" cy="2286000"/>
          </a:xfrm>
          <a:prstGeom prst="rect">
            <a:avLst/>
          </a:prstGeom>
          <a:noFill/>
          <a:ln/>
        </p:spPr>
        <p:txBody>
          <a:bodyPr wrap="square" rtlCol="0" anchor="ctr"/>
          <a:lstStyle/>
          <a:p>
            <a:pPr marL="0" indent="0" algn="just">
              <a:buNone/>
            </a:pPr>
            <a:r>
              <a:rPr lang="en-US" sz="1300" dirty="0">
                <a:solidFill>
                  <a:srgbClr val="E8F5E9"/>
                </a:solidFill>
                <a:latin typeface="Calibri" pitchFamily="34" charset="0"/>
                <a:ea typeface="Calibri" pitchFamily="34" charset="-122"/>
                <a:cs typeface="Calibri" pitchFamily="34" charset="-120"/>
              </a:rPr>
              <a:t>The Dmart sales dataset encompasses comprehensive retail metrics including product sales volumes, revenue figures, time period dimensions, customer segment classifications, and geographic distribution data. This structured dataset enables multi-dimensional analysis for strategic decision-making.</a:t>
            </a:r>
            <a:endParaRPr lang="en-US" sz="1300" dirty="0"/>
          </a:p>
        </p:txBody>
      </p:sp>
      <p:sp>
        <p:nvSpPr>
          <p:cNvPr id="7" name="Shape 4"/>
          <p:cNvSpPr/>
          <p:nvPr/>
        </p:nvSpPr>
        <p:spPr>
          <a:xfrm>
            <a:off x="914400" y="3474720"/>
            <a:ext cx="1828800" cy="1828800"/>
          </a:xfrm>
          <a:prstGeom prst="ellipse">
            <a:avLst/>
          </a:prstGeom>
          <a:solidFill>
            <a:srgbClr val="1E8449">
              <a:alpha val="60000"/>
            </a:srgbClr>
          </a:solidFill>
          <a:ln w="12700">
            <a:solidFill>
              <a:srgbClr val="58D68D"/>
            </a:solidFill>
            <a:prstDash val="solid"/>
          </a:ln>
        </p:spPr>
      </p:sp>
      <p:sp>
        <p:nvSpPr>
          <p:cNvPr id="8" name="Text 5"/>
          <p:cNvSpPr/>
          <p:nvPr/>
        </p:nvSpPr>
        <p:spPr>
          <a:xfrm>
            <a:off x="914400" y="4251960"/>
            <a:ext cx="182880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North America</a:t>
            </a:r>
            <a:endParaRPr lang="en-US" sz="900" dirty="0"/>
          </a:p>
        </p:txBody>
      </p:sp>
      <p:sp>
        <p:nvSpPr>
          <p:cNvPr id="9" name="Shape 6"/>
          <p:cNvSpPr/>
          <p:nvPr/>
        </p:nvSpPr>
        <p:spPr>
          <a:xfrm>
            <a:off x="2926080" y="2286000"/>
            <a:ext cx="2194560" cy="2194560"/>
          </a:xfrm>
          <a:prstGeom prst="ellipse">
            <a:avLst/>
          </a:prstGeom>
          <a:solidFill>
            <a:srgbClr val="27AE60">
              <a:alpha val="60000"/>
            </a:srgbClr>
          </a:solidFill>
          <a:ln w="12700">
            <a:solidFill>
              <a:srgbClr val="58D68D"/>
            </a:solidFill>
            <a:prstDash val="solid"/>
          </a:ln>
        </p:spPr>
      </p:sp>
      <p:sp>
        <p:nvSpPr>
          <p:cNvPr id="10" name="Text 7"/>
          <p:cNvSpPr/>
          <p:nvPr/>
        </p:nvSpPr>
        <p:spPr>
          <a:xfrm>
            <a:off x="2926080" y="3246120"/>
            <a:ext cx="21945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Europe</a:t>
            </a:r>
            <a:endParaRPr lang="en-US" sz="900" dirty="0"/>
          </a:p>
        </p:txBody>
      </p:sp>
      <p:sp>
        <p:nvSpPr>
          <p:cNvPr id="11" name="Shape 8"/>
          <p:cNvSpPr/>
          <p:nvPr/>
        </p:nvSpPr>
        <p:spPr>
          <a:xfrm>
            <a:off x="457200" y="1371600"/>
            <a:ext cx="1828800" cy="1828800"/>
          </a:xfrm>
          <a:prstGeom prst="ellipse">
            <a:avLst/>
          </a:prstGeom>
          <a:solidFill>
            <a:srgbClr val="145A32">
              <a:alpha val="60000"/>
            </a:srgbClr>
          </a:solidFill>
          <a:ln w="12700">
            <a:solidFill>
              <a:srgbClr val="58D68D"/>
            </a:solidFill>
            <a:prstDash val="solid"/>
          </a:ln>
        </p:spPr>
      </p:sp>
      <p:sp>
        <p:nvSpPr>
          <p:cNvPr id="12" name="Text 9"/>
          <p:cNvSpPr/>
          <p:nvPr/>
        </p:nvSpPr>
        <p:spPr>
          <a:xfrm>
            <a:off x="457200" y="2148840"/>
            <a:ext cx="182880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Middle East &amp; Africa</a:t>
            </a:r>
            <a:endParaRPr lang="en-US" sz="900" dirty="0"/>
          </a:p>
        </p:txBody>
      </p:sp>
      <p:sp>
        <p:nvSpPr>
          <p:cNvPr id="13" name="Shape 10"/>
          <p:cNvSpPr/>
          <p:nvPr/>
        </p:nvSpPr>
        <p:spPr>
          <a:xfrm>
            <a:off x="2286000" y="731520"/>
            <a:ext cx="1645920" cy="1645920"/>
          </a:xfrm>
          <a:prstGeom prst="ellipse">
            <a:avLst/>
          </a:prstGeom>
          <a:solidFill>
            <a:srgbClr val="1E8449">
              <a:alpha val="60000"/>
            </a:srgbClr>
          </a:solidFill>
          <a:ln w="12700">
            <a:solidFill>
              <a:srgbClr val="58D68D"/>
            </a:solidFill>
            <a:prstDash val="solid"/>
          </a:ln>
        </p:spPr>
      </p:sp>
      <p:sp>
        <p:nvSpPr>
          <p:cNvPr id="14" name="Text 11"/>
          <p:cNvSpPr/>
          <p:nvPr/>
        </p:nvSpPr>
        <p:spPr>
          <a:xfrm>
            <a:off x="2286000" y="1417320"/>
            <a:ext cx="164592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Latin America</a:t>
            </a:r>
            <a:endParaRPr lang="en-US" sz="900" dirty="0"/>
          </a:p>
        </p:txBody>
      </p:sp>
      <p:sp>
        <p:nvSpPr>
          <p:cNvPr id="15" name="Shape 12"/>
          <p:cNvSpPr/>
          <p:nvPr/>
        </p:nvSpPr>
        <p:spPr>
          <a:xfrm>
            <a:off x="1828800" y="4389120"/>
            <a:ext cx="2011680" cy="2011680"/>
          </a:xfrm>
          <a:prstGeom prst="ellipse">
            <a:avLst/>
          </a:prstGeom>
          <a:solidFill>
            <a:srgbClr val="27AE60">
              <a:alpha val="60000"/>
            </a:srgbClr>
          </a:solidFill>
          <a:ln w="12700">
            <a:solidFill>
              <a:srgbClr val="58D68D"/>
            </a:solidFill>
            <a:prstDash val="solid"/>
          </a:ln>
        </p:spPr>
      </p:sp>
      <p:sp>
        <p:nvSpPr>
          <p:cNvPr id="16" name="Text 13"/>
          <p:cNvSpPr/>
          <p:nvPr/>
        </p:nvSpPr>
        <p:spPr>
          <a:xfrm>
            <a:off x="1828800" y="5257800"/>
            <a:ext cx="201168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Asia-Pacific</a:t>
            </a:r>
            <a:endParaRPr lang="en-US" sz="900" dirty="0"/>
          </a:p>
        </p:txBody>
      </p:sp>
      <p:sp>
        <p:nvSpPr>
          <p:cNvPr id="17" name="Text 14"/>
          <p:cNvSpPr/>
          <p:nvPr/>
        </p:nvSpPr>
        <p:spPr>
          <a:xfrm>
            <a:off x="274320" y="6492240"/>
            <a:ext cx="5943600" cy="228600"/>
          </a:xfrm>
          <a:prstGeom prst="rect">
            <a:avLst/>
          </a:prstGeom>
          <a:noFill/>
          <a:ln/>
        </p:spPr>
        <p:txBody>
          <a:bodyPr wrap="square" rtlCol="0" anchor="ctr"/>
          <a:lstStyle/>
          <a:p>
            <a:pPr marL="0" indent="0">
              <a:buNone/>
            </a:pPr>
            <a:r>
              <a:rPr lang="en-US" sz="900" i="1" dirty="0">
                <a:solidFill>
                  <a:srgbClr val="58D68D"/>
                </a:solidFill>
                <a:latin typeface="Calibri" pitchFamily="34" charset="0"/>
                <a:ea typeface="Calibri" pitchFamily="34" charset="-122"/>
                <a:cs typeface="Calibri" pitchFamily="34" charset="-120"/>
              </a:rPr>
              <a:t>Source: AI-generated data. Replace or verify before use.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5A32"/>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164592"/>
          </a:xfrm>
          <a:prstGeom prst="rect">
            <a:avLst/>
          </a:prstGeom>
          <a:solidFill>
            <a:srgbClr val="27AE60"/>
          </a:solidFill>
          <a:ln w="12700">
            <a:solidFill>
              <a:srgbClr val="27AE60"/>
            </a:solidFill>
            <a:prstDash val="solid"/>
          </a:ln>
        </p:spPr>
      </p:sp>
      <p:sp>
        <p:nvSpPr>
          <p:cNvPr id="3" name="Shape 1"/>
          <p:cNvSpPr/>
          <p:nvPr/>
        </p:nvSpPr>
        <p:spPr>
          <a:xfrm>
            <a:off x="0" y="6693408"/>
            <a:ext cx="5943600" cy="164592"/>
          </a:xfrm>
          <a:prstGeom prst="rect">
            <a:avLst/>
          </a:prstGeom>
          <a:solidFill>
            <a:srgbClr val="1E8449"/>
          </a:solidFill>
          <a:ln w="12700">
            <a:solidFill>
              <a:srgbClr val="1E8449"/>
            </a:solidFill>
            <a:prstDash val="solid"/>
          </a:ln>
        </p:spPr>
      </p:sp>
      <p:pic>
        <p:nvPicPr>
          <p:cNvPr id="4"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5" name="Text 2"/>
          <p:cNvSpPr/>
          <p:nvPr/>
        </p:nvSpPr>
        <p:spPr>
          <a:xfrm>
            <a:off x="457200" y="1097280"/>
            <a:ext cx="5943600" cy="1828800"/>
          </a:xfrm>
          <a:prstGeom prst="rect">
            <a:avLst/>
          </a:prstGeom>
          <a:noFill/>
          <a:ln/>
        </p:spPr>
        <p:txBody>
          <a:bodyPr wrap="square"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Analytical</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Methods Overview</a:t>
            </a:r>
            <a:endParaRPr lang="en-US" sz="4000" dirty="0"/>
          </a:p>
        </p:txBody>
      </p:sp>
      <p:sp>
        <p:nvSpPr>
          <p:cNvPr id="6" name="Shape 3"/>
          <p:cNvSpPr/>
          <p:nvPr/>
        </p:nvSpPr>
        <p:spPr>
          <a:xfrm>
            <a:off x="6858000" y="1097280"/>
            <a:ext cx="5029200" cy="4572000"/>
          </a:xfrm>
          <a:prstGeom prst="roundRect">
            <a:avLst>
              <a:gd name="adj" fmla="val 3000"/>
            </a:avLst>
          </a:prstGeom>
          <a:solidFill>
            <a:srgbClr val="0A3D1F"/>
          </a:solidFill>
          <a:ln w="25400">
            <a:solidFill>
              <a:srgbClr val="27AE60"/>
            </a:solidFill>
            <a:prstDash val="solid"/>
          </a:ln>
        </p:spPr>
      </p:sp>
      <p:sp>
        <p:nvSpPr>
          <p:cNvPr id="7" name="Shape 4"/>
          <p:cNvSpPr/>
          <p:nvPr/>
        </p:nvSpPr>
        <p:spPr>
          <a:xfrm>
            <a:off x="7086600" y="1371600"/>
            <a:ext cx="228600" cy="228600"/>
          </a:xfrm>
          <a:prstGeom prst="ellipse">
            <a:avLst/>
          </a:prstGeom>
          <a:solidFill>
            <a:srgbClr val="27AE60"/>
          </a:solidFill>
          <a:ln w="12700">
            <a:solidFill>
              <a:srgbClr val="27AE60"/>
            </a:solidFill>
            <a:prstDash val="solid"/>
          </a:ln>
        </p:spPr>
      </p:sp>
      <p:sp>
        <p:nvSpPr>
          <p:cNvPr id="8" name="Text 5"/>
          <p:cNvSpPr/>
          <p:nvPr/>
        </p:nvSpPr>
        <p:spPr>
          <a:xfrm>
            <a:off x="7406640" y="1325880"/>
            <a:ext cx="4206240" cy="274320"/>
          </a:xfrm>
          <a:prstGeom prst="rect">
            <a:avLst/>
          </a:prstGeom>
          <a:noFill/>
          <a:ln/>
        </p:spPr>
        <p:txBody>
          <a:bodyPr wrap="square" rtlCol="0" anchor="ctr"/>
          <a:lstStyle/>
          <a:p>
            <a:pPr marL="0" indent="0">
              <a:buNone/>
            </a:pPr>
            <a:r>
              <a:rPr lang="en-US" sz="1200" b="1" dirty="0">
                <a:solidFill>
                  <a:srgbClr val="58D68D"/>
                </a:solidFill>
                <a:latin typeface="Calibri" pitchFamily="34" charset="0"/>
                <a:ea typeface="Calibri" pitchFamily="34" charset="-122"/>
                <a:cs typeface="Calibri" pitchFamily="34" charset="-120"/>
              </a:rPr>
              <a:t>5W Techniques: </a:t>
            </a:r>
            <a:endParaRPr lang="en-US" sz="1200" dirty="0"/>
          </a:p>
        </p:txBody>
      </p:sp>
      <p:sp>
        <p:nvSpPr>
          <p:cNvPr id="9" name="Text 6"/>
          <p:cNvSpPr/>
          <p:nvPr/>
        </p:nvSpPr>
        <p:spPr>
          <a:xfrm>
            <a:off x="7406640" y="1600200"/>
            <a:ext cx="4206240" cy="320040"/>
          </a:xfrm>
          <a:prstGeom prst="rect">
            <a:avLst/>
          </a:prstGeom>
          <a:noFill/>
          <a:ln/>
        </p:spPr>
        <p:txBody>
          <a:bodyPr wrap="square" rtlCol="0" anchor="ctr"/>
          <a:lstStyle/>
          <a:p>
            <a:pPr marL="0" indent="0">
              <a:buNone/>
            </a:pPr>
            <a:r>
              <a:rPr lang="en-US" sz="1100" dirty="0">
                <a:solidFill>
                  <a:srgbClr val="E8F5E9"/>
                </a:solidFill>
                <a:latin typeface="Calibri" pitchFamily="34" charset="0"/>
                <a:ea typeface="Calibri" pitchFamily="34" charset="-122"/>
                <a:cs typeface="Calibri" pitchFamily="34" charset="-120"/>
              </a:rPr>
              <a:t>Who, What, When, Where, Why for comprehensive insight gathering</a:t>
            </a:r>
            <a:endParaRPr lang="en-US" sz="1100" dirty="0"/>
          </a:p>
        </p:txBody>
      </p:sp>
      <p:sp>
        <p:nvSpPr>
          <p:cNvPr id="10" name="Shape 7"/>
          <p:cNvSpPr/>
          <p:nvPr/>
        </p:nvSpPr>
        <p:spPr>
          <a:xfrm>
            <a:off x="7086600" y="2194560"/>
            <a:ext cx="228600" cy="228600"/>
          </a:xfrm>
          <a:prstGeom prst="ellipse">
            <a:avLst/>
          </a:prstGeom>
          <a:solidFill>
            <a:srgbClr val="27AE60"/>
          </a:solidFill>
          <a:ln w="12700">
            <a:solidFill>
              <a:srgbClr val="27AE60"/>
            </a:solidFill>
            <a:prstDash val="solid"/>
          </a:ln>
        </p:spPr>
      </p:sp>
      <p:sp>
        <p:nvSpPr>
          <p:cNvPr id="11" name="Text 8"/>
          <p:cNvSpPr/>
          <p:nvPr/>
        </p:nvSpPr>
        <p:spPr>
          <a:xfrm>
            <a:off x="7406640" y="2148840"/>
            <a:ext cx="4206240" cy="274320"/>
          </a:xfrm>
          <a:prstGeom prst="rect">
            <a:avLst/>
          </a:prstGeom>
          <a:noFill/>
          <a:ln/>
        </p:spPr>
        <p:txBody>
          <a:bodyPr wrap="square" rtlCol="0" anchor="ctr"/>
          <a:lstStyle/>
          <a:p>
            <a:pPr marL="0" indent="0">
              <a:buNone/>
            </a:pPr>
            <a:r>
              <a:rPr lang="en-US" sz="1200" b="1" dirty="0">
                <a:solidFill>
                  <a:srgbClr val="58D68D"/>
                </a:solidFill>
                <a:latin typeface="Calibri" pitchFamily="34" charset="0"/>
                <a:ea typeface="Calibri" pitchFamily="34" charset="-122"/>
                <a:cs typeface="Calibri" pitchFamily="34" charset="-120"/>
              </a:rPr>
              <a:t>5Why Root Cause: </a:t>
            </a:r>
            <a:endParaRPr lang="en-US" sz="1200" dirty="0"/>
          </a:p>
        </p:txBody>
      </p:sp>
      <p:sp>
        <p:nvSpPr>
          <p:cNvPr id="12" name="Text 9"/>
          <p:cNvSpPr/>
          <p:nvPr/>
        </p:nvSpPr>
        <p:spPr>
          <a:xfrm>
            <a:off x="7406640" y="2423160"/>
            <a:ext cx="4206240" cy="320040"/>
          </a:xfrm>
          <a:prstGeom prst="rect">
            <a:avLst/>
          </a:prstGeom>
          <a:noFill/>
          <a:ln/>
        </p:spPr>
        <p:txBody>
          <a:bodyPr wrap="square" rtlCol="0" anchor="ctr"/>
          <a:lstStyle/>
          <a:p>
            <a:pPr marL="0" indent="0">
              <a:buNone/>
            </a:pPr>
            <a:r>
              <a:rPr lang="en-US" sz="1100" dirty="0">
                <a:solidFill>
                  <a:srgbClr val="E8F5E9"/>
                </a:solidFill>
                <a:latin typeface="Calibri" pitchFamily="34" charset="0"/>
                <a:ea typeface="Calibri" pitchFamily="34" charset="-122"/>
                <a:cs typeface="Calibri" pitchFamily="34" charset="-120"/>
              </a:rPr>
              <a:t>Iterative drilling to fundamental causes of sales issues</a:t>
            </a:r>
            <a:endParaRPr lang="en-US" sz="1100" dirty="0"/>
          </a:p>
        </p:txBody>
      </p:sp>
      <p:sp>
        <p:nvSpPr>
          <p:cNvPr id="13" name="Shape 10"/>
          <p:cNvSpPr/>
          <p:nvPr/>
        </p:nvSpPr>
        <p:spPr>
          <a:xfrm>
            <a:off x="7086600" y="3017520"/>
            <a:ext cx="228600" cy="228600"/>
          </a:xfrm>
          <a:prstGeom prst="ellipse">
            <a:avLst/>
          </a:prstGeom>
          <a:solidFill>
            <a:srgbClr val="27AE60"/>
          </a:solidFill>
          <a:ln w="12700">
            <a:solidFill>
              <a:srgbClr val="27AE60"/>
            </a:solidFill>
            <a:prstDash val="solid"/>
          </a:ln>
        </p:spPr>
      </p:sp>
      <p:sp>
        <p:nvSpPr>
          <p:cNvPr id="14" name="Text 11"/>
          <p:cNvSpPr/>
          <p:nvPr/>
        </p:nvSpPr>
        <p:spPr>
          <a:xfrm>
            <a:off x="7406640" y="2971800"/>
            <a:ext cx="4206240" cy="274320"/>
          </a:xfrm>
          <a:prstGeom prst="rect">
            <a:avLst/>
          </a:prstGeom>
          <a:noFill/>
          <a:ln/>
        </p:spPr>
        <p:txBody>
          <a:bodyPr wrap="square" rtlCol="0" anchor="ctr"/>
          <a:lstStyle/>
          <a:p>
            <a:pPr marL="0" indent="0">
              <a:buNone/>
            </a:pPr>
            <a:r>
              <a:rPr lang="en-US" sz="1200" b="1" dirty="0">
                <a:solidFill>
                  <a:srgbClr val="58D68D"/>
                </a:solidFill>
                <a:latin typeface="Calibri" pitchFamily="34" charset="0"/>
                <a:ea typeface="Calibri" pitchFamily="34" charset="-122"/>
                <a:cs typeface="Calibri" pitchFamily="34" charset="-120"/>
              </a:rPr>
              <a:t>BCG Model: </a:t>
            </a:r>
            <a:endParaRPr lang="en-US" sz="1200" dirty="0"/>
          </a:p>
        </p:txBody>
      </p:sp>
      <p:sp>
        <p:nvSpPr>
          <p:cNvPr id="15" name="Text 12"/>
          <p:cNvSpPr/>
          <p:nvPr/>
        </p:nvSpPr>
        <p:spPr>
          <a:xfrm>
            <a:off x="7406640" y="3246120"/>
            <a:ext cx="4206240" cy="320040"/>
          </a:xfrm>
          <a:prstGeom prst="rect">
            <a:avLst/>
          </a:prstGeom>
          <a:noFill/>
          <a:ln/>
        </p:spPr>
        <p:txBody>
          <a:bodyPr wrap="square" rtlCol="0" anchor="ctr"/>
          <a:lstStyle/>
          <a:p>
            <a:pPr marL="0" indent="0">
              <a:buNone/>
            </a:pPr>
            <a:r>
              <a:rPr lang="en-US" sz="1100" dirty="0">
                <a:solidFill>
                  <a:srgbClr val="E8F5E9"/>
                </a:solidFill>
                <a:latin typeface="Calibri" pitchFamily="34" charset="0"/>
                <a:ea typeface="Calibri" pitchFamily="34" charset="-122"/>
                <a:cs typeface="Calibri" pitchFamily="34" charset="-120"/>
              </a:rPr>
              <a:t>Categorizing products by market growth rate and market share</a:t>
            </a:r>
            <a:endParaRPr lang="en-US" sz="1100" dirty="0"/>
          </a:p>
        </p:txBody>
      </p:sp>
      <p:sp>
        <p:nvSpPr>
          <p:cNvPr id="16" name="Shape 13"/>
          <p:cNvSpPr/>
          <p:nvPr/>
        </p:nvSpPr>
        <p:spPr>
          <a:xfrm>
            <a:off x="7086600" y="3840480"/>
            <a:ext cx="228600" cy="228600"/>
          </a:xfrm>
          <a:prstGeom prst="ellipse">
            <a:avLst/>
          </a:prstGeom>
          <a:solidFill>
            <a:srgbClr val="27AE60"/>
          </a:solidFill>
          <a:ln w="12700">
            <a:solidFill>
              <a:srgbClr val="27AE60"/>
            </a:solidFill>
            <a:prstDash val="solid"/>
          </a:ln>
        </p:spPr>
      </p:sp>
      <p:sp>
        <p:nvSpPr>
          <p:cNvPr id="17" name="Text 14"/>
          <p:cNvSpPr/>
          <p:nvPr/>
        </p:nvSpPr>
        <p:spPr>
          <a:xfrm>
            <a:off x="7406640" y="3794760"/>
            <a:ext cx="4206240" cy="274320"/>
          </a:xfrm>
          <a:prstGeom prst="rect">
            <a:avLst/>
          </a:prstGeom>
          <a:noFill/>
          <a:ln/>
        </p:spPr>
        <p:txBody>
          <a:bodyPr wrap="square" rtlCol="0" anchor="ctr"/>
          <a:lstStyle/>
          <a:p>
            <a:pPr marL="0" indent="0">
              <a:buNone/>
            </a:pPr>
            <a:r>
              <a:rPr lang="en-US" sz="1200" b="1" dirty="0">
                <a:solidFill>
                  <a:srgbClr val="58D68D"/>
                </a:solidFill>
                <a:latin typeface="Calibri" pitchFamily="34" charset="0"/>
                <a:ea typeface="Calibri" pitchFamily="34" charset="-122"/>
                <a:cs typeface="Calibri" pitchFamily="34" charset="-120"/>
              </a:rPr>
              <a:t>ROI Model: </a:t>
            </a:r>
            <a:endParaRPr lang="en-US" sz="1200" dirty="0"/>
          </a:p>
        </p:txBody>
      </p:sp>
      <p:sp>
        <p:nvSpPr>
          <p:cNvPr id="18" name="Text 15"/>
          <p:cNvSpPr/>
          <p:nvPr/>
        </p:nvSpPr>
        <p:spPr>
          <a:xfrm>
            <a:off x="7406640" y="4069080"/>
            <a:ext cx="4206240" cy="320040"/>
          </a:xfrm>
          <a:prstGeom prst="rect">
            <a:avLst/>
          </a:prstGeom>
          <a:noFill/>
          <a:ln/>
        </p:spPr>
        <p:txBody>
          <a:bodyPr wrap="square" rtlCol="0" anchor="ctr"/>
          <a:lstStyle/>
          <a:p>
            <a:pPr marL="0" indent="0">
              <a:buNone/>
            </a:pPr>
            <a:r>
              <a:rPr lang="en-US" sz="1100" dirty="0">
                <a:solidFill>
                  <a:srgbClr val="E8F5E9"/>
                </a:solidFill>
                <a:latin typeface="Calibri" pitchFamily="34" charset="0"/>
                <a:ea typeface="Calibri" pitchFamily="34" charset="-122"/>
                <a:cs typeface="Calibri" pitchFamily="34" charset="-120"/>
              </a:rPr>
              <a:t>Assessing return on investment for product sales and marketing</a:t>
            </a:r>
            <a:endParaRPr lang="en-US" sz="1100" dirty="0"/>
          </a:p>
        </p:txBody>
      </p:sp>
      <p:sp>
        <p:nvSpPr>
          <p:cNvPr id="19" name="Shape 16"/>
          <p:cNvSpPr/>
          <p:nvPr/>
        </p:nvSpPr>
        <p:spPr>
          <a:xfrm>
            <a:off x="7086600" y="4663440"/>
            <a:ext cx="228600" cy="228600"/>
          </a:xfrm>
          <a:prstGeom prst="ellipse">
            <a:avLst/>
          </a:prstGeom>
          <a:solidFill>
            <a:srgbClr val="27AE60"/>
          </a:solidFill>
          <a:ln w="12700">
            <a:solidFill>
              <a:srgbClr val="27AE60"/>
            </a:solidFill>
            <a:prstDash val="solid"/>
          </a:ln>
        </p:spPr>
      </p:sp>
      <p:sp>
        <p:nvSpPr>
          <p:cNvPr id="20" name="Text 17"/>
          <p:cNvSpPr/>
          <p:nvPr/>
        </p:nvSpPr>
        <p:spPr>
          <a:xfrm>
            <a:off x="7406640" y="4617720"/>
            <a:ext cx="4206240" cy="274320"/>
          </a:xfrm>
          <a:prstGeom prst="rect">
            <a:avLst/>
          </a:prstGeom>
          <a:noFill/>
          <a:ln/>
        </p:spPr>
        <p:txBody>
          <a:bodyPr wrap="square" rtlCol="0" anchor="ctr"/>
          <a:lstStyle/>
          <a:p>
            <a:pPr marL="0" indent="0">
              <a:buNone/>
            </a:pPr>
            <a:r>
              <a:rPr lang="en-US" sz="1200" b="1" dirty="0">
                <a:solidFill>
                  <a:srgbClr val="58D68D"/>
                </a:solidFill>
                <a:latin typeface="Calibri" pitchFamily="34" charset="0"/>
                <a:ea typeface="Calibri" pitchFamily="34" charset="-122"/>
                <a:cs typeface="Calibri" pitchFamily="34" charset="-120"/>
              </a:rPr>
              <a:t>Ishikawa Diagram: </a:t>
            </a:r>
            <a:endParaRPr lang="en-US" sz="1200" dirty="0"/>
          </a:p>
        </p:txBody>
      </p:sp>
      <p:sp>
        <p:nvSpPr>
          <p:cNvPr id="21" name="Text 18"/>
          <p:cNvSpPr/>
          <p:nvPr/>
        </p:nvSpPr>
        <p:spPr>
          <a:xfrm>
            <a:off x="7406640" y="4892040"/>
            <a:ext cx="4206240" cy="320040"/>
          </a:xfrm>
          <a:prstGeom prst="rect">
            <a:avLst/>
          </a:prstGeom>
          <a:noFill/>
          <a:ln/>
        </p:spPr>
        <p:txBody>
          <a:bodyPr wrap="square" rtlCol="0" anchor="ctr"/>
          <a:lstStyle/>
          <a:p>
            <a:pPr marL="0" indent="0">
              <a:buNone/>
            </a:pPr>
            <a:r>
              <a:rPr lang="en-US" sz="1100" dirty="0">
                <a:solidFill>
                  <a:srgbClr val="E8F5E9"/>
                </a:solidFill>
                <a:latin typeface="Calibri" pitchFamily="34" charset="0"/>
                <a:ea typeface="Calibri" pitchFamily="34" charset="-122"/>
                <a:cs typeface="Calibri" pitchFamily="34" charset="-120"/>
              </a:rPr>
              <a:t>Identifying key factors influencing sales performance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5A32"/>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164592"/>
          </a:xfrm>
          <a:prstGeom prst="rect">
            <a:avLst/>
          </a:prstGeom>
          <a:solidFill>
            <a:srgbClr val="27AE60"/>
          </a:solidFill>
          <a:ln w="12700">
            <a:solidFill>
              <a:srgbClr val="27AE60"/>
            </a:solidFill>
            <a:prstDash val="solid"/>
          </a:ln>
        </p:spPr>
      </p:sp>
      <p:sp>
        <p:nvSpPr>
          <p:cNvPr id="3" name="Shape 1"/>
          <p:cNvSpPr/>
          <p:nvPr/>
        </p:nvSpPr>
        <p:spPr>
          <a:xfrm>
            <a:off x="0" y="6693408"/>
            <a:ext cx="5943600" cy="164592"/>
          </a:xfrm>
          <a:prstGeom prst="rect">
            <a:avLst/>
          </a:prstGeom>
          <a:solidFill>
            <a:srgbClr val="1E8449"/>
          </a:solidFill>
          <a:ln w="12700">
            <a:solidFill>
              <a:srgbClr val="1E8449"/>
            </a:solidFill>
            <a:prstDash val="solid"/>
          </a:ln>
        </p:spPr>
      </p:sp>
      <p:pic>
        <p:nvPicPr>
          <p:cNvPr id="4"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5" name="Text 2"/>
          <p:cNvSpPr/>
          <p:nvPr/>
        </p:nvSpPr>
        <p:spPr>
          <a:xfrm>
            <a:off x="457200" y="1097280"/>
            <a:ext cx="5943600" cy="2011680"/>
          </a:xfrm>
          <a:prstGeom prst="rect">
            <a:avLst/>
          </a:prstGeom>
          <a:noFill/>
          <a:ln/>
        </p:spPr>
        <p:txBody>
          <a:bodyPr wrap="square"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5W and 5Why</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Techniques Explained</a:t>
            </a:r>
            <a:endParaRPr lang="en-US" sz="4000" dirty="0"/>
          </a:p>
        </p:txBody>
      </p:sp>
      <p:sp>
        <p:nvSpPr>
          <p:cNvPr id="6" name="Text 3"/>
          <p:cNvSpPr/>
          <p:nvPr/>
        </p:nvSpPr>
        <p:spPr>
          <a:xfrm>
            <a:off x="457200" y="3200400"/>
            <a:ext cx="5669280" cy="2926080"/>
          </a:xfrm>
          <a:prstGeom prst="rect">
            <a:avLst/>
          </a:prstGeom>
          <a:noFill/>
          <a:ln/>
        </p:spPr>
        <p:txBody>
          <a:bodyPr wrap="square" rtlCol="0" anchor="ctr"/>
          <a:lstStyle/>
          <a:p>
            <a:pPr marL="0" indent="0">
              <a:buNone/>
            </a:pPr>
            <a:r>
              <a:rPr lang="en-US" sz="1300" dirty="0">
                <a:solidFill>
                  <a:srgbClr val="E8F5E9"/>
                </a:solidFill>
                <a:latin typeface="Calibri" pitchFamily="34" charset="0"/>
                <a:ea typeface="Calibri" pitchFamily="34" charset="-122"/>
                <a:cs typeface="Calibri" pitchFamily="34" charset="-120"/>
              </a:rPr>
              <a:t>5W Framework: Systematically explore dataset context by asking Who, What, When, Where, and Why questions to gain comprehensive understanding.</a:t>
            </a:r>
            <a:endParaRPr lang="en-US" sz="1300" dirty="0"/>
          </a:p>
          <a:p>
            <a:pPr marL="0" indent="0">
              <a:buNone/>
            </a:pPr>
            <a:endParaRPr lang="en-US" sz="1300" dirty="0"/>
          </a:p>
          <a:p>
            <a:pPr marL="0" indent="0">
              <a:buNone/>
            </a:pPr>
            <a:r>
              <a:rPr lang="en-US" sz="1300" dirty="0">
                <a:solidFill>
                  <a:srgbClr val="E8F5E9"/>
                </a:solidFill>
                <a:latin typeface="Calibri" pitchFamily="34" charset="0"/>
                <a:ea typeface="Calibri" pitchFamily="34" charset="-122"/>
                <a:cs typeface="Calibri" pitchFamily="34" charset="-120"/>
              </a:rPr>
              <a:t>5Why Analysis: Iterative questioning technique that drills down through layers of causation to isolate root causes behind sales or revenue problems.</a:t>
            </a:r>
            <a:endParaRPr lang="en-US" sz="1300" dirty="0"/>
          </a:p>
          <a:p>
            <a:pPr marL="0" indent="0">
              <a:buNone/>
            </a:pPr>
            <a:endParaRPr lang="en-US" sz="1300" dirty="0"/>
          </a:p>
          <a:p>
            <a:pPr marL="0" indent="0">
              <a:buNone/>
            </a:pPr>
            <a:r>
              <a:rPr lang="en-US" sz="1300" dirty="0">
                <a:solidFill>
                  <a:srgbClr val="E8F5E9"/>
                </a:solidFill>
                <a:latin typeface="Calibri" pitchFamily="34" charset="0"/>
                <a:ea typeface="Calibri" pitchFamily="34" charset="-122"/>
                <a:cs typeface="Calibri" pitchFamily="34" charset="-120"/>
              </a:rPr>
              <a:t>Together, these methods provide actionable insights for data-driven decision making.</a:t>
            </a:r>
            <a:endParaRPr lang="en-US" sz="1300" dirty="0"/>
          </a:p>
        </p:txBody>
      </p:sp>
      <p:sp>
        <p:nvSpPr>
          <p:cNvPr id="7" name="Shape 4"/>
          <p:cNvSpPr/>
          <p:nvPr/>
        </p:nvSpPr>
        <p:spPr>
          <a:xfrm>
            <a:off x="8686800" y="1371600"/>
            <a:ext cx="731520" cy="731520"/>
          </a:xfrm>
          <a:prstGeom prst="ellipse">
            <a:avLst/>
          </a:prstGeom>
          <a:solidFill>
            <a:srgbClr val="27AE60">
              <a:alpha val="50000"/>
            </a:srgbClr>
          </a:solidFill>
          <a:ln w="25400">
            <a:solidFill>
              <a:srgbClr val="58D68D"/>
            </a:solidFill>
            <a:prstDash val="solid"/>
          </a:ln>
        </p:spPr>
      </p:sp>
      <p:sp>
        <p:nvSpPr>
          <p:cNvPr id="8" name="Text 5"/>
          <p:cNvSpPr/>
          <p:nvPr/>
        </p:nvSpPr>
        <p:spPr>
          <a:xfrm>
            <a:off x="8686800" y="1463040"/>
            <a:ext cx="731520" cy="548640"/>
          </a:xfrm>
          <a:prstGeom prst="rect">
            <a:avLst/>
          </a:prstGeom>
          <a:noFill/>
          <a:ln/>
        </p:spPr>
        <p:txBody>
          <a:bodyPr wrap="square" rtlCol="0" anchor="ctr"/>
          <a:lstStyle/>
          <a:p>
            <a:pPr marL="0" indent="0" algn="ctr">
              <a:buNone/>
            </a:pPr>
            <a:r>
              <a:rPr lang="en-US" sz="2200" b="1" dirty="0">
                <a:solidFill>
                  <a:srgbClr val="58D68D"/>
                </a:solidFill>
              </a:rPr>
              <a:t>?</a:t>
            </a:r>
            <a:endParaRPr lang="en-US" sz="2200" dirty="0"/>
          </a:p>
        </p:txBody>
      </p:sp>
      <p:sp>
        <p:nvSpPr>
          <p:cNvPr id="9" name="Shape 6"/>
          <p:cNvSpPr/>
          <p:nvPr/>
        </p:nvSpPr>
        <p:spPr>
          <a:xfrm>
            <a:off x="10241280" y="1371600"/>
            <a:ext cx="731520" cy="731520"/>
          </a:xfrm>
          <a:prstGeom prst="ellipse">
            <a:avLst/>
          </a:prstGeom>
          <a:solidFill>
            <a:srgbClr val="27AE60">
              <a:alpha val="50000"/>
            </a:srgbClr>
          </a:solidFill>
          <a:ln w="25400">
            <a:solidFill>
              <a:srgbClr val="58D68D"/>
            </a:solidFill>
            <a:prstDash val="solid"/>
          </a:ln>
        </p:spPr>
      </p:sp>
      <p:sp>
        <p:nvSpPr>
          <p:cNvPr id="10" name="Text 7"/>
          <p:cNvSpPr/>
          <p:nvPr/>
        </p:nvSpPr>
        <p:spPr>
          <a:xfrm>
            <a:off x="10241280" y="1463040"/>
            <a:ext cx="731520" cy="548640"/>
          </a:xfrm>
          <a:prstGeom prst="rect">
            <a:avLst/>
          </a:prstGeom>
          <a:noFill/>
          <a:ln/>
        </p:spPr>
        <p:txBody>
          <a:bodyPr wrap="square" rtlCol="0" anchor="ctr"/>
          <a:lstStyle/>
          <a:p>
            <a:pPr marL="0" indent="0" algn="ctr">
              <a:buNone/>
            </a:pPr>
            <a:r>
              <a:rPr lang="en-US" sz="2200" b="1" dirty="0">
                <a:solidFill>
                  <a:srgbClr val="58D68D"/>
                </a:solidFill>
              </a:rPr>
              <a:t>?</a:t>
            </a:r>
            <a:endParaRPr lang="en-US" sz="2200" dirty="0"/>
          </a:p>
        </p:txBody>
      </p:sp>
      <p:sp>
        <p:nvSpPr>
          <p:cNvPr id="11" name="Shape 8"/>
          <p:cNvSpPr/>
          <p:nvPr/>
        </p:nvSpPr>
        <p:spPr>
          <a:xfrm>
            <a:off x="9418320" y="2560320"/>
            <a:ext cx="731520" cy="731520"/>
          </a:xfrm>
          <a:prstGeom prst="ellipse">
            <a:avLst/>
          </a:prstGeom>
          <a:solidFill>
            <a:srgbClr val="27AE60">
              <a:alpha val="50000"/>
            </a:srgbClr>
          </a:solidFill>
          <a:ln w="25400">
            <a:solidFill>
              <a:srgbClr val="58D68D"/>
            </a:solidFill>
            <a:prstDash val="solid"/>
          </a:ln>
        </p:spPr>
      </p:sp>
      <p:sp>
        <p:nvSpPr>
          <p:cNvPr id="12" name="Text 9"/>
          <p:cNvSpPr/>
          <p:nvPr/>
        </p:nvSpPr>
        <p:spPr>
          <a:xfrm>
            <a:off x="9418320" y="2651760"/>
            <a:ext cx="731520" cy="548640"/>
          </a:xfrm>
          <a:prstGeom prst="rect">
            <a:avLst/>
          </a:prstGeom>
          <a:noFill/>
          <a:ln/>
        </p:spPr>
        <p:txBody>
          <a:bodyPr wrap="square" rtlCol="0" anchor="ctr"/>
          <a:lstStyle/>
          <a:p>
            <a:pPr marL="0" indent="0" algn="ctr">
              <a:buNone/>
            </a:pPr>
            <a:r>
              <a:rPr lang="en-US" sz="2200" b="1" dirty="0">
                <a:solidFill>
                  <a:srgbClr val="58D68D"/>
                </a:solidFill>
              </a:rPr>
              <a:t>?</a:t>
            </a:r>
            <a:endParaRPr lang="en-US" sz="2200" dirty="0"/>
          </a:p>
        </p:txBody>
      </p:sp>
      <p:sp>
        <p:nvSpPr>
          <p:cNvPr id="13" name="Shape 10"/>
          <p:cNvSpPr/>
          <p:nvPr/>
        </p:nvSpPr>
        <p:spPr>
          <a:xfrm>
            <a:off x="8238226" y="3429000"/>
            <a:ext cx="731520" cy="731520"/>
          </a:xfrm>
          <a:prstGeom prst="ellipse">
            <a:avLst/>
          </a:prstGeom>
          <a:solidFill>
            <a:srgbClr val="27AE60">
              <a:alpha val="50000"/>
            </a:srgbClr>
          </a:solidFill>
          <a:ln w="25400">
            <a:solidFill>
              <a:srgbClr val="58D68D"/>
            </a:solidFill>
            <a:prstDash val="solid"/>
          </a:ln>
        </p:spPr>
      </p:sp>
      <p:sp>
        <p:nvSpPr>
          <p:cNvPr id="14" name="Text 11"/>
          <p:cNvSpPr/>
          <p:nvPr/>
        </p:nvSpPr>
        <p:spPr>
          <a:xfrm>
            <a:off x="8229600" y="3566160"/>
            <a:ext cx="731520" cy="548640"/>
          </a:xfrm>
          <a:prstGeom prst="rect">
            <a:avLst/>
          </a:prstGeom>
          <a:noFill/>
          <a:ln/>
        </p:spPr>
        <p:txBody>
          <a:bodyPr wrap="square" rtlCol="0" anchor="ctr"/>
          <a:lstStyle/>
          <a:p>
            <a:pPr marL="0" indent="0" algn="ctr">
              <a:buNone/>
            </a:pPr>
            <a:r>
              <a:rPr lang="en-US" sz="2200" b="1" dirty="0">
                <a:solidFill>
                  <a:srgbClr val="58D68D"/>
                </a:solidFill>
              </a:rPr>
              <a:t>?</a:t>
            </a:r>
            <a:endParaRPr lang="en-US" sz="2200" dirty="0"/>
          </a:p>
        </p:txBody>
      </p:sp>
      <p:sp>
        <p:nvSpPr>
          <p:cNvPr id="15" name="Shape 12"/>
          <p:cNvSpPr/>
          <p:nvPr/>
        </p:nvSpPr>
        <p:spPr>
          <a:xfrm>
            <a:off x="10515600" y="3200400"/>
            <a:ext cx="731520" cy="731520"/>
          </a:xfrm>
          <a:prstGeom prst="ellipse">
            <a:avLst/>
          </a:prstGeom>
          <a:solidFill>
            <a:srgbClr val="27AE60">
              <a:alpha val="50000"/>
            </a:srgbClr>
          </a:solidFill>
          <a:ln w="25400">
            <a:solidFill>
              <a:srgbClr val="58D68D"/>
            </a:solidFill>
            <a:prstDash val="solid"/>
          </a:ln>
        </p:spPr>
      </p:sp>
      <p:sp>
        <p:nvSpPr>
          <p:cNvPr id="16" name="Text 13"/>
          <p:cNvSpPr/>
          <p:nvPr/>
        </p:nvSpPr>
        <p:spPr>
          <a:xfrm>
            <a:off x="10515600" y="3291840"/>
            <a:ext cx="731520" cy="548640"/>
          </a:xfrm>
          <a:prstGeom prst="rect">
            <a:avLst/>
          </a:prstGeom>
          <a:noFill/>
          <a:ln/>
        </p:spPr>
        <p:txBody>
          <a:bodyPr wrap="square" rtlCol="0" anchor="ctr"/>
          <a:lstStyle/>
          <a:p>
            <a:pPr marL="0" indent="0" algn="ctr">
              <a:buNone/>
            </a:pPr>
            <a:r>
              <a:rPr lang="en-US" sz="2200" b="1" dirty="0">
                <a:solidFill>
                  <a:srgbClr val="58D68D"/>
                </a:solidFill>
              </a:rPr>
              <a:t>?</a:t>
            </a:r>
            <a:endParaRPr lang="en-US" sz="2200" dirty="0"/>
          </a:p>
        </p:txBody>
      </p:sp>
      <p:sp>
        <p:nvSpPr>
          <p:cNvPr id="17" name="Shape 14"/>
          <p:cNvSpPr/>
          <p:nvPr/>
        </p:nvSpPr>
        <p:spPr>
          <a:xfrm>
            <a:off x="7772400" y="929237"/>
            <a:ext cx="3840480" cy="3840480"/>
          </a:xfrm>
          <a:prstGeom prst="ellipse">
            <a:avLst/>
          </a:prstGeom>
          <a:noFill/>
          <a:ln w="9525" cap="flat" cmpd="sng" algn="ctr">
            <a:solidFill>
              <a:schemeClr val="accent6">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5A32"/>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164592"/>
          </a:xfrm>
          <a:prstGeom prst="rect">
            <a:avLst/>
          </a:prstGeom>
          <a:solidFill>
            <a:srgbClr val="27AE60"/>
          </a:solidFill>
          <a:ln w="12700">
            <a:solidFill>
              <a:srgbClr val="27AE60"/>
            </a:solidFill>
            <a:prstDash val="solid"/>
          </a:ln>
        </p:spPr>
      </p:sp>
      <p:sp>
        <p:nvSpPr>
          <p:cNvPr id="3" name="Shape 1"/>
          <p:cNvSpPr/>
          <p:nvPr/>
        </p:nvSpPr>
        <p:spPr>
          <a:xfrm>
            <a:off x="0" y="6693408"/>
            <a:ext cx="5943600" cy="164592"/>
          </a:xfrm>
          <a:prstGeom prst="rect">
            <a:avLst/>
          </a:prstGeom>
          <a:solidFill>
            <a:srgbClr val="1E8449"/>
          </a:solidFill>
          <a:ln w="12700">
            <a:solidFill>
              <a:srgbClr val="1E8449"/>
            </a:solidFill>
            <a:prstDash val="solid"/>
          </a:ln>
        </p:spPr>
      </p:sp>
      <p:pic>
        <p:nvPicPr>
          <p:cNvPr id="4"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7" name="Text 4"/>
          <p:cNvSpPr/>
          <p:nvPr/>
        </p:nvSpPr>
        <p:spPr>
          <a:xfrm>
            <a:off x="414530" y="1005840"/>
            <a:ext cx="6217920" cy="164592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Applying 5W and 5Why</a:t>
            </a:r>
            <a:endParaRPr lang="en-US" sz="3600" dirty="0"/>
          </a:p>
          <a:p>
            <a:pPr marL="0" indent="0">
              <a:buNone/>
            </a:pPr>
            <a:r>
              <a:rPr lang="en-US" sz="3600" b="1" dirty="0">
                <a:solidFill>
                  <a:srgbClr val="FFFFFF"/>
                </a:solidFill>
                <a:latin typeface="Arial Black" pitchFamily="34" charset="0"/>
                <a:ea typeface="Arial Black" pitchFamily="34" charset="-122"/>
                <a:cs typeface="Arial Black" pitchFamily="34" charset="-120"/>
              </a:rPr>
              <a:t>to Dmart Sales</a:t>
            </a:r>
            <a:endParaRPr lang="en-US" sz="3600" dirty="0"/>
          </a:p>
        </p:txBody>
      </p:sp>
      <p:sp>
        <p:nvSpPr>
          <p:cNvPr id="8" name="Text 5"/>
          <p:cNvSpPr/>
          <p:nvPr/>
        </p:nvSpPr>
        <p:spPr>
          <a:xfrm>
            <a:off x="709091" y="2720340"/>
            <a:ext cx="6217920" cy="320040"/>
          </a:xfrm>
          <a:prstGeom prst="rect">
            <a:avLst/>
          </a:prstGeom>
          <a:noFill/>
          <a:ln/>
        </p:spPr>
        <p:txBody>
          <a:bodyPr wrap="square" rtlCol="0" anchor="ctr"/>
          <a:lstStyle/>
          <a:p>
            <a:pPr marL="0" indent="0">
              <a:buNone/>
            </a:pPr>
            <a:r>
              <a:rPr lang="en-US" sz="1400" b="1" dirty="0">
                <a:solidFill>
                  <a:srgbClr val="58D68D"/>
                </a:solidFill>
                <a:latin typeface="Calibri" pitchFamily="34" charset="0"/>
                <a:ea typeface="Calibri" pitchFamily="34" charset="-122"/>
                <a:cs typeface="Calibri" pitchFamily="34" charset="-120"/>
              </a:rPr>
              <a:t>5W Examples:</a:t>
            </a:r>
            <a:endParaRPr lang="en-US" sz="1400" dirty="0"/>
          </a:p>
        </p:txBody>
      </p:sp>
      <p:sp>
        <p:nvSpPr>
          <p:cNvPr id="9" name="Text 6"/>
          <p:cNvSpPr/>
          <p:nvPr/>
        </p:nvSpPr>
        <p:spPr>
          <a:xfrm>
            <a:off x="579695" y="2980944"/>
            <a:ext cx="6217920" cy="1097280"/>
          </a:xfrm>
          <a:prstGeom prst="rect">
            <a:avLst/>
          </a:prstGeom>
          <a:noFill/>
          <a:ln/>
        </p:spPr>
        <p:txBody>
          <a:bodyPr wrap="square" rtlCol="0" anchor="ctr"/>
          <a:lstStyle/>
          <a:p>
            <a:pPr marL="0" indent="0">
              <a:buNone/>
            </a:pPr>
            <a:r>
              <a:rPr lang="en-US" sz="1300" dirty="0">
                <a:solidFill>
                  <a:srgbClr val="E8F5E9"/>
                </a:solidFill>
                <a:latin typeface="Calibri" pitchFamily="34" charset="0"/>
                <a:ea typeface="Calibri" pitchFamily="34" charset="-122"/>
                <a:cs typeface="Calibri" pitchFamily="34" charset="-120"/>
              </a:rPr>
              <a:t>Who are top customers? What products sell best?</a:t>
            </a:r>
            <a:endParaRPr lang="en-US" sz="1300" dirty="0"/>
          </a:p>
          <a:p>
            <a:pPr marL="0" indent="0">
              <a:buNone/>
            </a:pPr>
            <a:r>
              <a:rPr lang="en-US" sz="1300" dirty="0">
                <a:solidFill>
                  <a:srgbClr val="E8F5E9"/>
                </a:solidFill>
                <a:latin typeface="Calibri" pitchFamily="34" charset="0"/>
                <a:ea typeface="Calibri" pitchFamily="34" charset="-122"/>
                <a:cs typeface="Calibri" pitchFamily="34" charset="-120"/>
              </a:rPr>
              <a:t>When do sales peak? Where are high-performing stores?</a:t>
            </a:r>
            <a:endParaRPr lang="en-US" sz="1300" dirty="0"/>
          </a:p>
          <a:p>
            <a:pPr marL="0" indent="0">
              <a:buNone/>
            </a:pPr>
            <a:r>
              <a:rPr lang="en-US" sz="1300" dirty="0">
                <a:solidFill>
                  <a:srgbClr val="E8F5E9"/>
                </a:solidFill>
                <a:latin typeface="Calibri" pitchFamily="34" charset="0"/>
                <a:ea typeface="Calibri" pitchFamily="34" charset="-122"/>
                <a:cs typeface="Calibri" pitchFamily="34" charset="-120"/>
              </a:rPr>
              <a:t>Why do certain categories outperform?</a:t>
            </a:r>
            <a:endParaRPr lang="en-US" sz="1300" dirty="0"/>
          </a:p>
        </p:txBody>
      </p:sp>
      <p:sp>
        <p:nvSpPr>
          <p:cNvPr id="10" name="Text 7"/>
          <p:cNvSpPr/>
          <p:nvPr/>
        </p:nvSpPr>
        <p:spPr>
          <a:xfrm>
            <a:off x="708284" y="4027932"/>
            <a:ext cx="6217920" cy="320040"/>
          </a:xfrm>
          <a:prstGeom prst="rect">
            <a:avLst/>
          </a:prstGeom>
          <a:noFill/>
          <a:ln/>
        </p:spPr>
        <p:txBody>
          <a:bodyPr wrap="square" rtlCol="0" anchor="ctr"/>
          <a:lstStyle/>
          <a:p>
            <a:pPr marL="0" indent="0">
              <a:buNone/>
            </a:pPr>
            <a:r>
              <a:rPr lang="en-US" sz="1400" b="1" dirty="0">
                <a:solidFill>
                  <a:srgbClr val="58D68D"/>
                </a:solidFill>
                <a:latin typeface="Calibri" pitchFamily="34" charset="0"/>
                <a:ea typeface="Calibri" pitchFamily="34" charset="-122"/>
                <a:cs typeface="Calibri" pitchFamily="34" charset="-120"/>
              </a:rPr>
              <a:t>5Why Chain:</a:t>
            </a:r>
            <a:endParaRPr lang="en-US" sz="1400" dirty="0"/>
          </a:p>
        </p:txBody>
      </p:sp>
      <p:sp>
        <p:nvSpPr>
          <p:cNvPr id="11" name="Text 8"/>
          <p:cNvSpPr/>
          <p:nvPr/>
        </p:nvSpPr>
        <p:spPr>
          <a:xfrm>
            <a:off x="579695" y="4206240"/>
            <a:ext cx="6217920" cy="1097280"/>
          </a:xfrm>
          <a:prstGeom prst="rect">
            <a:avLst/>
          </a:prstGeom>
          <a:noFill/>
          <a:ln/>
        </p:spPr>
        <p:txBody>
          <a:bodyPr wrap="square" rtlCol="0" anchor="ctr"/>
          <a:lstStyle/>
          <a:p>
            <a:pPr marL="0" indent="0">
              <a:buNone/>
            </a:pPr>
            <a:r>
              <a:rPr lang="en-US" sz="1300" dirty="0">
                <a:solidFill>
                  <a:srgbClr val="E8F5E9"/>
                </a:solidFill>
                <a:latin typeface="Calibri" pitchFamily="34" charset="0"/>
                <a:ea typeface="Calibri" pitchFamily="34" charset="-122"/>
                <a:cs typeface="Calibri" pitchFamily="34" charset="-120"/>
              </a:rPr>
              <a:t>Why did Q2 revenue drop? → Reduced footfall → Marketing ineffective → Campaign timing missed → Delayed launch → Resource allocation gaps.</a:t>
            </a:r>
            <a:endParaRPr lang="en-US" sz="1300" dirty="0"/>
          </a:p>
        </p:txBody>
      </p:sp>
      <p:sp>
        <p:nvSpPr>
          <p:cNvPr id="12" name="Shape 9"/>
          <p:cNvSpPr/>
          <p:nvPr/>
        </p:nvSpPr>
        <p:spPr>
          <a:xfrm>
            <a:off x="377954" y="2651760"/>
            <a:ext cx="73152" cy="2560320"/>
          </a:xfrm>
          <a:prstGeom prst="rect">
            <a:avLst/>
          </a:prstGeom>
          <a:solidFill>
            <a:srgbClr val="27AE60"/>
          </a:solidFill>
          <a:ln w="12700">
            <a:solidFill>
              <a:srgbClr val="27AE6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5A32"/>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164592"/>
          </a:xfrm>
          <a:prstGeom prst="rect">
            <a:avLst/>
          </a:prstGeom>
          <a:solidFill>
            <a:srgbClr val="27AE60"/>
          </a:solidFill>
          <a:ln w="12700">
            <a:solidFill>
              <a:srgbClr val="27AE60"/>
            </a:solidFill>
            <a:prstDash val="solid"/>
          </a:ln>
        </p:spPr>
      </p:sp>
      <p:sp>
        <p:nvSpPr>
          <p:cNvPr id="3" name="Shape 1"/>
          <p:cNvSpPr/>
          <p:nvPr/>
        </p:nvSpPr>
        <p:spPr>
          <a:xfrm>
            <a:off x="0" y="6693408"/>
            <a:ext cx="5943600" cy="164592"/>
          </a:xfrm>
          <a:prstGeom prst="rect">
            <a:avLst/>
          </a:prstGeom>
          <a:solidFill>
            <a:srgbClr val="1E8449"/>
          </a:solidFill>
          <a:ln w="12700">
            <a:solidFill>
              <a:srgbClr val="1E8449"/>
            </a:solidFill>
            <a:prstDash val="solid"/>
          </a:ln>
        </p:spPr>
      </p:sp>
      <p:pic>
        <p:nvPicPr>
          <p:cNvPr id="4"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5" name="Text 2"/>
          <p:cNvSpPr/>
          <p:nvPr/>
        </p:nvSpPr>
        <p:spPr>
          <a:xfrm>
            <a:off x="457200" y="1097280"/>
            <a:ext cx="5943600" cy="1828800"/>
          </a:xfrm>
          <a:prstGeom prst="rect">
            <a:avLst/>
          </a:prstGeom>
          <a:noFill/>
          <a:ln/>
        </p:spPr>
        <p:txBody>
          <a:bodyPr wrap="square"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BCG and ROI Models</a:t>
            </a:r>
            <a:endParaRPr lang="en-US" sz="4000" dirty="0"/>
          </a:p>
          <a:p>
            <a:pPr marL="0" indent="0">
              <a:buNone/>
            </a:pPr>
            <a:r>
              <a:rPr lang="en-US" sz="4000" b="1" dirty="0">
                <a:solidFill>
                  <a:srgbClr val="FFFFFF"/>
                </a:solidFill>
                <a:latin typeface="Arial Black" pitchFamily="34" charset="0"/>
                <a:ea typeface="Arial Black" pitchFamily="34" charset="-122"/>
                <a:cs typeface="Arial Black" pitchFamily="34" charset="-120"/>
              </a:rPr>
              <a:t>Comparison</a:t>
            </a:r>
            <a:endParaRPr lang="en-US" sz="4000" dirty="0"/>
          </a:p>
        </p:txBody>
      </p:sp>
      <p:sp>
        <p:nvSpPr>
          <p:cNvPr id="6" name="Shape 3"/>
          <p:cNvSpPr/>
          <p:nvPr/>
        </p:nvSpPr>
        <p:spPr>
          <a:xfrm>
            <a:off x="6858000" y="1097280"/>
            <a:ext cx="2377440" cy="2377440"/>
          </a:xfrm>
          <a:prstGeom prst="rect">
            <a:avLst/>
          </a:prstGeom>
          <a:solidFill>
            <a:srgbClr val="27AE60">
              <a:alpha val="60000"/>
            </a:srgbClr>
          </a:solidFill>
          <a:ln w="12700">
            <a:solidFill>
              <a:srgbClr val="58D68D"/>
            </a:solidFill>
            <a:prstDash val="solid"/>
          </a:ln>
        </p:spPr>
      </p:sp>
      <p:sp>
        <p:nvSpPr>
          <p:cNvPr id="7" name="Text 4"/>
          <p:cNvSpPr/>
          <p:nvPr/>
        </p:nvSpPr>
        <p:spPr>
          <a:xfrm>
            <a:off x="7040880" y="1828800"/>
            <a:ext cx="201168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Stars</a:t>
            </a:r>
            <a:endParaRPr lang="en-US" sz="1400" dirty="0"/>
          </a:p>
        </p:txBody>
      </p:sp>
      <p:sp>
        <p:nvSpPr>
          <p:cNvPr id="8" name="Shape 5"/>
          <p:cNvSpPr/>
          <p:nvPr/>
        </p:nvSpPr>
        <p:spPr>
          <a:xfrm>
            <a:off x="9235440" y="1097280"/>
            <a:ext cx="2377440" cy="2377440"/>
          </a:xfrm>
          <a:prstGeom prst="rect">
            <a:avLst/>
          </a:prstGeom>
          <a:solidFill>
            <a:srgbClr val="1E8449">
              <a:alpha val="60000"/>
            </a:srgbClr>
          </a:solidFill>
          <a:ln w="12700">
            <a:solidFill>
              <a:srgbClr val="58D68D"/>
            </a:solidFill>
            <a:prstDash val="solid"/>
          </a:ln>
        </p:spPr>
      </p:sp>
      <p:sp>
        <p:nvSpPr>
          <p:cNvPr id="9" name="Text 6"/>
          <p:cNvSpPr/>
          <p:nvPr/>
        </p:nvSpPr>
        <p:spPr>
          <a:xfrm>
            <a:off x="9418320" y="1828800"/>
            <a:ext cx="201168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Question</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Marks</a:t>
            </a:r>
            <a:endParaRPr lang="en-US" sz="1400" dirty="0"/>
          </a:p>
        </p:txBody>
      </p:sp>
      <p:sp>
        <p:nvSpPr>
          <p:cNvPr id="10" name="Shape 7"/>
          <p:cNvSpPr/>
          <p:nvPr/>
        </p:nvSpPr>
        <p:spPr>
          <a:xfrm>
            <a:off x="6858000" y="3474720"/>
            <a:ext cx="2377440" cy="2377440"/>
          </a:xfrm>
          <a:prstGeom prst="rect">
            <a:avLst/>
          </a:prstGeom>
          <a:solidFill>
            <a:srgbClr val="1E8449">
              <a:alpha val="60000"/>
            </a:srgbClr>
          </a:solidFill>
          <a:ln w="12700">
            <a:solidFill>
              <a:srgbClr val="58D68D"/>
            </a:solidFill>
            <a:prstDash val="solid"/>
          </a:ln>
        </p:spPr>
      </p:sp>
      <p:sp>
        <p:nvSpPr>
          <p:cNvPr id="11" name="Text 8"/>
          <p:cNvSpPr/>
          <p:nvPr/>
        </p:nvSpPr>
        <p:spPr>
          <a:xfrm>
            <a:off x="7040880" y="4206240"/>
            <a:ext cx="201168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Cash</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Cows</a:t>
            </a:r>
            <a:endParaRPr lang="en-US" sz="1400" dirty="0"/>
          </a:p>
        </p:txBody>
      </p:sp>
      <p:sp>
        <p:nvSpPr>
          <p:cNvPr id="12" name="Shape 9"/>
          <p:cNvSpPr/>
          <p:nvPr/>
        </p:nvSpPr>
        <p:spPr>
          <a:xfrm>
            <a:off x="9235440" y="3474720"/>
            <a:ext cx="2377440" cy="2377440"/>
          </a:xfrm>
          <a:prstGeom prst="rect">
            <a:avLst/>
          </a:prstGeom>
          <a:solidFill>
            <a:srgbClr val="145A32">
              <a:alpha val="60000"/>
            </a:srgbClr>
          </a:solidFill>
          <a:ln w="12700">
            <a:solidFill>
              <a:srgbClr val="58D68D"/>
            </a:solidFill>
            <a:prstDash val="solid"/>
          </a:ln>
        </p:spPr>
      </p:sp>
      <p:sp>
        <p:nvSpPr>
          <p:cNvPr id="13" name="Text 10"/>
          <p:cNvSpPr/>
          <p:nvPr/>
        </p:nvSpPr>
        <p:spPr>
          <a:xfrm>
            <a:off x="9418320" y="4206240"/>
            <a:ext cx="201168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Dogs</a:t>
            </a:r>
            <a:endParaRPr lang="en-US" sz="1400" dirty="0"/>
          </a:p>
        </p:txBody>
      </p:sp>
      <p:sp>
        <p:nvSpPr>
          <p:cNvPr id="14" name="Text 11"/>
          <p:cNvSpPr/>
          <p:nvPr/>
        </p:nvSpPr>
        <p:spPr>
          <a:xfrm>
            <a:off x="6858000" y="5532120"/>
            <a:ext cx="4754880" cy="274320"/>
          </a:xfrm>
          <a:prstGeom prst="rect">
            <a:avLst/>
          </a:prstGeom>
          <a:noFill/>
          <a:ln/>
        </p:spPr>
        <p:txBody>
          <a:bodyPr wrap="square" rtlCol="0" anchor="ctr"/>
          <a:lstStyle/>
          <a:p>
            <a:pPr marL="0" indent="0" algn="ctr">
              <a:buNone/>
            </a:pPr>
            <a:r>
              <a:rPr lang="en-US" sz="1000" dirty="0">
                <a:solidFill>
                  <a:srgbClr val="58D68D"/>
                </a:solidFill>
                <a:latin typeface="Calibri" pitchFamily="34" charset="0"/>
                <a:ea typeface="Calibri" pitchFamily="34" charset="-122"/>
                <a:cs typeface="Calibri" pitchFamily="34" charset="-120"/>
              </a:rPr>
              <a:t>High ← Market Growth → Low</a:t>
            </a:r>
            <a:endParaRPr lang="en-US" sz="1000" dirty="0"/>
          </a:p>
        </p:txBody>
      </p:sp>
      <p:sp>
        <p:nvSpPr>
          <p:cNvPr id="15" name="Text 12"/>
          <p:cNvSpPr/>
          <p:nvPr/>
        </p:nvSpPr>
        <p:spPr>
          <a:xfrm>
            <a:off x="457200" y="3200400"/>
            <a:ext cx="5943600" cy="3200400"/>
          </a:xfrm>
          <a:prstGeom prst="rect">
            <a:avLst/>
          </a:prstGeom>
          <a:noFill/>
          <a:ln/>
        </p:spPr>
        <p:txBody>
          <a:bodyPr wrap="square" rtlCol="0" anchor="ctr"/>
          <a:lstStyle/>
          <a:p>
            <a:pPr marL="0" indent="0">
              <a:buNone/>
            </a:pPr>
            <a:r>
              <a:rPr lang="en-US" sz="1300" dirty="0">
                <a:solidFill>
                  <a:srgbClr val="E8F5E9"/>
                </a:solidFill>
                <a:latin typeface="Calibri" pitchFamily="34" charset="0"/>
                <a:ea typeface="Calibri" pitchFamily="34" charset="-122"/>
                <a:cs typeface="Calibri" pitchFamily="34" charset="-120"/>
              </a:rPr>
              <a:t>BCG Model classifies products as Stars, Cash Cows, Question Marks, or Dogs based on market growth and share.</a:t>
            </a:r>
            <a:endParaRPr lang="en-US" sz="1300" dirty="0"/>
          </a:p>
          <a:p>
            <a:pPr marL="0" indent="0">
              <a:buNone/>
            </a:pPr>
            <a:endParaRPr lang="en-US" sz="1300" dirty="0"/>
          </a:p>
          <a:p>
            <a:pPr marL="0" indent="0">
              <a:buNone/>
            </a:pPr>
            <a:r>
              <a:rPr lang="en-US" sz="1300" dirty="0">
                <a:solidFill>
                  <a:srgbClr val="E8F5E9"/>
                </a:solidFill>
                <a:latin typeface="Calibri" pitchFamily="34" charset="0"/>
                <a:ea typeface="Calibri" pitchFamily="34" charset="-122"/>
                <a:cs typeface="Calibri" pitchFamily="34" charset="-120"/>
              </a:rPr>
              <a:t>ROI Model measures financial returns on marketing and sales investments.</a:t>
            </a:r>
            <a:endParaRPr lang="en-US" sz="1300" dirty="0"/>
          </a:p>
          <a:p>
            <a:pPr marL="0" indent="0">
              <a:buNone/>
            </a:pPr>
            <a:endParaRPr lang="en-US" sz="1300" dirty="0"/>
          </a:p>
          <a:p>
            <a:pPr marL="0" indent="0">
              <a:buNone/>
            </a:pPr>
            <a:r>
              <a:rPr lang="en-US" sz="1300" dirty="0">
                <a:solidFill>
                  <a:srgbClr val="E8F5E9"/>
                </a:solidFill>
                <a:latin typeface="Calibri" pitchFamily="34" charset="0"/>
                <a:ea typeface="Calibri" pitchFamily="34" charset="-122"/>
                <a:cs typeface="Calibri" pitchFamily="34" charset="-120"/>
              </a:rPr>
              <a:t>Together, these frameworks enable strategic product portfolio management and data-driven resource allocation for Dmart retail operations.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5A32"/>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164592"/>
          </a:xfrm>
          <a:prstGeom prst="rect">
            <a:avLst/>
          </a:prstGeom>
          <a:solidFill>
            <a:srgbClr val="27AE60"/>
          </a:solidFill>
          <a:ln w="12700">
            <a:solidFill>
              <a:srgbClr val="27AE60"/>
            </a:solidFill>
            <a:prstDash val="solid"/>
          </a:ln>
        </p:spPr>
      </p:sp>
      <p:sp>
        <p:nvSpPr>
          <p:cNvPr id="3" name="Shape 1"/>
          <p:cNvSpPr/>
          <p:nvPr/>
        </p:nvSpPr>
        <p:spPr>
          <a:xfrm>
            <a:off x="0" y="6693408"/>
            <a:ext cx="5943600" cy="164592"/>
          </a:xfrm>
          <a:prstGeom prst="rect">
            <a:avLst/>
          </a:prstGeom>
          <a:solidFill>
            <a:srgbClr val="1E8449"/>
          </a:solidFill>
          <a:ln w="12700">
            <a:solidFill>
              <a:srgbClr val="1E8449"/>
            </a:solidFill>
            <a:prstDash val="solid"/>
          </a:ln>
        </p:spPr>
      </p:sp>
      <p:pic>
        <p:nvPicPr>
          <p:cNvPr id="4"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5" name="Text 2"/>
          <p:cNvSpPr/>
          <p:nvPr/>
        </p:nvSpPr>
        <p:spPr>
          <a:xfrm>
            <a:off x="457200" y="1097280"/>
            <a:ext cx="5486400" cy="2011680"/>
          </a:xfrm>
          <a:prstGeom prst="rect">
            <a:avLst/>
          </a:prstGeom>
          <a:noFill/>
          <a:ln/>
        </p:spPr>
        <p:txBody>
          <a:bodyPr wrap="square" rtlCol="0" anchor="ctr"/>
          <a:lstStyle/>
          <a:p>
            <a:pPr marL="0" indent="0">
              <a:buNone/>
            </a:pPr>
            <a:r>
              <a:rPr lang="en-US" sz="3800" b="1" dirty="0">
                <a:solidFill>
                  <a:srgbClr val="FFFFFF"/>
                </a:solidFill>
                <a:latin typeface="Arial Black" pitchFamily="34" charset="0"/>
                <a:ea typeface="Arial Black" pitchFamily="34" charset="-122"/>
                <a:cs typeface="Arial Black" pitchFamily="34" charset="-120"/>
              </a:rPr>
              <a:t>Ishikawa Diagram</a:t>
            </a:r>
            <a:endParaRPr lang="en-US" sz="3800" dirty="0"/>
          </a:p>
          <a:p>
            <a:pPr marL="0" indent="0">
              <a:buNone/>
            </a:pPr>
            <a:r>
              <a:rPr lang="en-US" sz="3800" b="1" dirty="0">
                <a:solidFill>
                  <a:srgbClr val="FFFFFF"/>
                </a:solidFill>
                <a:latin typeface="Arial Black" pitchFamily="34" charset="0"/>
                <a:ea typeface="Arial Black" pitchFamily="34" charset="-122"/>
                <a:cs typeface="Arial Black" pitchFamily="34" charset="-120"/>
              </a:rPr>
              <a:t>for Sales Performance</a:t>
            </a:r>
            <a:endParaRPr lang="en-US" sz="3800" dirty="0"/>
          </a:p>
        </p:txBody>
      </p:sp>
      <p:sp>
        <p:nvSpPr>
          <p:cNvPr id="6" name="Text 3"/>
          <p:cNvSpPr/>
          <p:nvPr/>
        </p:nvSpPr>
        <p:spPr>
          <a:xfrm>
            <a:off x="457200" y="3200400"/>
            <a:ext cx="5303520" cy="2286000"/>
          </a:xfrm>
          <a:prstGeom prst="rect">
            <a:avLst/>
          </a:prstGeom>
          <a:noFill/>
          <a:ln/>
        </p:spPr>
        <p:txBody>
          <a:bodyPr wrap="square" rtlCol="0" anchor="ctr"/>
          <a:lstStyle/>
          <a:p>
            <a:pPr marL="0" indent="0">
              <a:buNone/>
            </a:pPr>
            <a:r>
              <a:rPr lang="en-US" sz="1300" dirty="0">
                <a:solidFill>
                  <a:srgbClr val="E8F5E9"/>
                </a:solidFill>
                <a:latin typeface="Calibri" pitchFamily="34" charset="0"/>
                <a:ea typeface="Calibri" pitchFamily="34" charset="-122"/>
                <a:cs typeface="Calibri" pitchFamily="34" charset="-120"/>
              </a:rPr>
              <a:t>The Ishikawa (fishbone) diagram identifies root causes affecting product sales performance. By categorizing factors into People, Process, Price, Promotion, Place, and Product, retail managers can systematically analyze and address areas requiring improvement for enhanced sales outcomes.</a:t>
            </a:r>
            <a:endParaRPr lang="en-US" sz="1300" dirty="0"/>
          </a:p>
        </p:txBody>
      </p:sp>
      <p:sp>
        <p:nvSpPr>
          <p:cNvPr id="7" name="Shape 4"/>
          <p:cNvSpPr/>
          <p:nvPr/>
        </p:nvSpPr>
        <p:spPr>
          <a:xfrm>
            <a:off x="6400800" y="3017520"/>
            <a:ext cx="3200400" cy="731520"/>
          </a:xfrm>
          <a:prstGeom prst="rightArrow">
            <a:avLst/>
          </a:prstGeom>
          <a:solidFill>
            <a:srgbClr val="1E8449"/>
          </a:solidFill>
          <a:ln w="12700">
            <a:solidFill>
              <a:srgbClr val="58D68D"/>
            </a:solidFill>
            <a:prstDash val="solid"/>
          </a:ln>
        </p:spPr>
      </p:sp>
      <p:sp>
        <p:nvSpPr>
          <p:cNvPr id="8" name="Text 5"/>
          <p:cNvSpPr/>
          <p:nvPr/>
        </p:nvSpPr>
        <p:spPr>
          <a:xfrm>
            <a:off x="9601200" y="2971800"/>
            <a:ext cx="2468880" cy="457200"/>
          </a:xfrm>
          <a:prstGeom prst="rect">
            <a:avLst/>
          </a:prstGeom>
          <a:noFill/>
          <a:ln/>
        </p:spPr>
        <p:txBody>
          <a:bodyPr wrap="square" rtlCol="0" anchor="ctr"/>
          <a:lstStyle/>
          <a:p>
            <a:pPr marL="0" indent="0">
              <a:buNone/>
            </a:pPr>
            <a:r>
              <a:rPr lang="en-US" sz="1000" b="1" dirty="0">
                <a:solidFill>
                  <a:srgbClr val="58D68D"/>
                </a:solidFill>
                <a:latin typeface="Calibri" pitchFamily="34" charset="0"/>
                <a:ea typeface="Calibri" pitchFamily="34" charset="-122"/>
                <a:cs typeface="Calibri" pitchFamily="34" charset="-120"/>
              </a:rPr>
              <a:t>Sales Performance Issues</a:t>
            </a:r>
            <a:endParaRPr lang="en-US" sz="1000" dirty="0"/>
          </a:p>
        </p:txBody>
      </p:sp>
      <p:sp>
        <p:nvSpPr>
          <p:cNvPr id="9" name="Shape 6"/>
          <p:cNvSpPr/>
          <p:nvPr/>
        </p:nvSpPr>
        <p:spPr>
          <a:xfrm>
            <a:off x="6675120" y="1463040"/>
            <a:ext cx="1371600" cy="914400"/>
          </a:xfrm>
          <a:prstGeom prst="ellipse">
            <a:avLst/>
          </a:prstGeom>
          <a:solidFill>
            <a:srgbClr val="27AE60">
              <a:alpha val="50000"/>
            </a:srgbClr>
          </a:solidFill>
          <a:ln w="19050">
            <a:solidFill>
              <a:srgbClr val="58D68D"/>
            </a:solidFill>
            <a:prstDash val="solid"/>
          </a:ln>
        </p:spPr>
      </p:sp>
      <p:sp>
        <p:nvSpPr>
          <p:cNvPr id="10" name="Text 7"/>
          <p:cNvSpPr/>
          <p:nvPr/>
        </p:nvSpPr>
        <p:spPr>
          <a:xfrm>
            <a:off x="6675120" y="173736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Place</a:t>
            </a:r>
            <a:endParaRPr lang="en-US" sz="1100" dirty="0"/>
          </a:p>
        </p:txBody>
      </p:sp>
      <p:sp>
        <p:nvSpPr>
          <p:cNvPr id="11" name="Shape 8"/>
          <p:cNvSpPr/>
          <p:nvPr/>
        </p:nvSpPr>
        <p:spPr>
          <a:xfrm>
            <a:off x="8229600" y="1463040"/>
            <a:ext cx="1371600" cy="914400"/>
          </a:xfrm>
          <a:prstGeom prst="ellipse">
            <a:avLst/>
          </a:prstGeom>
          <a:solidFill>
            <a:srgbClr val="27AE60">
              <a:alpha val="50000"/>
            </a:srgbClr>
          </a:solidFill>
          <a:ln w="19050">
            <a:solidFill>
              <a:srgbClr val="58D68D"/>
            </a:solidFill>
            <a:prstDash val="solid"/>
          </a:ln>
        </p:spPr>
      </p:sp>
      <p:sp>
        <p:nvSpPr>
          <p:cNvPr id="12" name="Text 9"/>
          <p:cNvSpPr/>
          <p:nvPr/>
        </p:nvSpPr>
        <p:spPr>
          <a:xfrm>
            <a:off x="8229600" y="173736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Promotion</a:t>
            </a:r>
            <a:endParaRPr lang="en-US" sz="1100" dirty="0"/>
          </a:p>
        </p:txBody>
      </p:sp>
      <p:sp>
        <p:nvSpPr>
          <p:cNvPr id="13" name="Shape 10"/>
          <p:cNvSpPr/>
          <p:nvPr/>
        </p:nvSpPr>
        <p:spPr>
          <a:xfrm>
            <a:off x="9784080" y="1463040"/>
            <a:ext cx="1371600" cy="914400"/>
          </a:xfrm>
          <a:prstGeom prst="ellipse">
            <a:avLst/>
          </a:prstGeom>
          <a:solidFill>
            <a:srgbClr val="27AE60">
              <a:alpha val="50000"/>
            </a:srgbClr>
          </a:solidFill>
          <a:ln w="19050">
            <a:solidFill>
              <a:srgbClr val="58D68D"/>
            </a:solidFill>
            <a:prstDash val="solid"/>
          </a:ln>
        </p:spPr>
      </p:sp>
      <p:sp>
        <p:nvSpPr>
          <p:cNvPr id="14" name="Text 11"/>
          <p:cNvSpPr/>
          <p:nvPr/>
        </p:nvSpPr>
        <p:spPr>
          <a:xfrm>
            <a:off x="9784080" y="173736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Product</a:t>
            </a:r>
            <a:endParaRPr lang="en-US" sz="1100" dirty="0"/>
          </a:p>
        </p:txBody>
      </p:sp>
      <p:sp>
        <p:nvSpPr>
          <p:cNvPr id="15" name="Shape 12"/>
          <p:cNvSpPr/>
          <p:nvPr/>
        </p:nvSpPr>
        <p:spPr>
          <a:xfrm>
            <a:off x="6949440" y="4572000"/>
            <a:ext cx="1371600" cy="914400"/>
          </a:xfrm>
          <a:prstGeom prst="ellipse">
            <a:avLst/>
          </a:prstGeom>
          <a:solidFill>
            <a:srgbClr val="27AE60">
              <a:alpha val="50000"/>
            </a:srgbClr>
          </a:solidFill>
          <a:ln w="19050">
            <a:solidFill>
              <a:srgbClr val="58D68D"/>
            </a:solidFill>
            <a:prstDash val="solid"/>
          </a:ln>
        </p:spPr>
      </p:sp>
      <p:sp>
        <p:nvSpPr>
          <p:cNvPr id="16" name="Text 13"/>
          <p:cNvSpPr/>
          <p:nvPr/>
        </p:nvSpPr>
        <p:spPr>
          <a:xfrm>
            <a:off x="6949440" y="484632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People</a:t>
            </a:r>
            <a:endParaRPr lang="en-US" sz="1100" dirty="0"/>
          </a:p>
        </p:txBody>
      </p:sp>
      <p:sp>
        <p:nvSpPr>
          <p:cNvPr id="17" name="Shape 14"/>
          <p:cNvSpPr/>
          <p:nvPr/>
        </p:nvSpPr>
        <p:spPr>
          <a:xfrm>
            <a:off x="8503920" y="4572000"/>
            <a:ext cx="1371600" cy="914400"/>
          </a:xfrm>
          <a:prstGeom prst="ellipse">
            <a:avLst/>
          </a:prstGeom>
          <a:solidFill>
            <a:srgbClr val="27AE60">
              <a:alpha val="50000"/>
            </a:srgbClr>
          </a:solidFill>
          <a:ln w="19050">
            <a:solidFill>
              <a:srgbClr val="58D68D"/>
            </a:solidFill>
            <a:prstDash val="solid"/>
          </a:ln>
        </p:spPr>
      </p:sp>
      <p:sp>
        <p:nvSpPr>
          <p:cNvPr id="18" name="Text 15"/>
          <p:cNvSpPr/>
          <p:nvPr/>
        </p:nvSpPr>
        <p:spPr>
          <a:xfrm>
            <a:off x="8503920" y="484632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Process</a:t>
            </a:r>
            <a:endParaRPr lang="en-US" sz="1100" dirty="0"/>
          </a:p>
        </p:txBody>
      </p:sp>
      <p:sp>
        <p:nvSpPr>
          <p:cNvPr id="19" name="Shape 16"/>
          <p:cNvSpPr/>
          <p:nvPr/>
        </p:nvSpPr>
        <p:spPr>
          <a:xfrm>
            <a:off x="9144000" y="5303520"/>
            <a:ext cx="1371600" cy="914400"/>
          </a:xfrm>
          <a:prstGeom prst="ellipse">
            <a:avLst/>
          </a:prstGeom>
          <a:solidFill>
            <a:srgbClr val="27AE60">
              <a:alpha val="50000"/>
            </a:srgbClr>
          </a:solidFill>
          <a:ln w="19050">
            <a:solidFill>
              <a:srgbClr val="58D68D"/>
            </a:solidFill>
            <a:prstDash val="solid"/>
          </a:ln>
        </p:spPr>
      </p:sp>
      <p:sp>
        <p:nvSpPr>
          <p:cNvPr id="20" name="Text 17"/>
          <p:cNvSpPr/>
          <p:nvPr/>
        </p:nvSpPr>
        <p:spPr>
          <a:xfrm>
            <a:off x="9144000" y="557784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Price</a:t>
            </a:r>
            <a:endParaRPr lang="en-US" sz="1100" dirty="0"/>
          </a:p>
        </p:txBody>
      </p:sp>
      <p:sp>
        <p:nvSpPr>
          <p:cNvPr id="21" name="Text 18"/>
          <p:cNvSpPr/>
          <p:nvPr/>
        </p:nvSpPr>
        <p:spPr>
          <a:xfrm>
            <a:off x="5943600" y="6446520"/>
            <a:ext cx="5943600" cy="228600"/>
          </a:xfrm>
          <a:prstGeom prst="rect">
            <a:avLst/>
          </a:prstGeom>
          <a:noFill/>
          <a:ln/>
        </p:spPr>
        <p:txBody>
          <a:bodyPr wrap="square" rtlCol="0" anchor="ctr"/>
          <a:lstStyle/>
          <a:p>
            <a:pPr marL="0" indent="0">
              <a:buNone/>
            </a:pPr>
            <a:r>
              <a:rPr lang="en-US" sz="900" i="1" dirty="0">
                <a:solidFill>
                  <a:srgbClr val="58D68D"/>
                </a:solidFill>
                <a:latin typeface="Calibri" pitchFamily="34" charset="0"/>
                <a:ea typeface="Calibri" pitchFamily="34" charset="-122"/>
                <a:cs typeface="Calibri" pitchFamily="34" charset="-120"/>
              </a:rPr>
              <a:t>Source: AI-generated data. Replace or verify before use.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5A32"/>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164592"/>
          </a:xfrm>
          <a:prstGeom prst="rect">
            <a:avLst/>
          </a:prstGeom>
          <a:solidFill>
            <a:srgbClr val="27AE60"/>
          </a:solidFill>
          <a:ln w="12700">
            <a:solidFill>
              <a:srgbClr val="27AE60"/>
            </a:solidFill>
            <a:prstDash val="solid"/>
          </a:ln>
        </p:spPr>
      </p:sp>
      <p:sp>
        <p:nvSpPr>
          <p:cNvPr id="3" name="Shape 1"/>
          <p:cNvSpPr/>
          <p:nvPr/>
        </p:nvSpPr>
        <p:spPr>
          <a:xfrm>
            <a:off x="0" y="6693408"/>
            <a:ext cx="5943600" cy="164592"/>
          </a:xfrm>
          <a:prstGeom prst="rect">
            <a:avLst/>
          </a:prstGeom>
          <a:solidFill>
            <a:srgbClr val="1E8449"/>
          </a:solidFill>
          <a:ln w="12700">
            <a:solidFill>
              <a:srgbClr val="1E8449"/>
            </a:solidFill>
            <a:prstDash val="solid"/>
          </a:ln>
        </p:spPr>
      </p:sp>
      <p:pic>
        <p:nvPicPr>
          <p:cNvPr id="4"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5" name="Text 2"/>
          <p:cNvSpPr/>
          <p:nvPr/>
        </p:nvSpPr>
        <p:spPr>
          <a:xfrm>
            <a:off x="457200" y="1097280"/>
            <a:ext cx="5486400" cy="2011680"/>
          </a:xfrm>
          <a:prstGeom prst="rect">
            <a:avLst/>
          </a:prstGeom>
          <a:noFill/>
          <a:ln/>
        </p:spPr>
        <p:txBody>
          <a:bodyPr wrap="square" rtlCol="0" anchor="ctr"/>
          <a:lstStyle/>
          <a:p>
            <a:pPr marL="0" indent="0">
              <a:buNone/>
            </a:pPr>
            <a:r>
              <a:rPr lang="en-US" sz="4200" b="1" dirty="0">
                <a:solidFill>
                  <a:srgbClr val="FFFFFF"/>
                </a:solidFill>
                <a:latin typeface="Arial Black" pitchFamily="34" charset="0"/>
                <a:ea typeface="Arial Black" pitchFamily="34" charset="-122"/>
                <a:cs typeface="Arial Black" pitchFamily="34" charset="-120"/>
              </a:rPr>
              <a:t>Summary and</a:t>
            </a:r>
            <a:endParaRPr lang="en-US" sz="4200" dirty="0"/>
          </a:p>
          <a:p>
            <a:pPr marL="0" indent="0">
              <a:buNone/>
            </a:pPr>
            <a:r>
              <a:rPr lang="en-US" sz="4200" b="1" dirty="0">
                <a:solidFill>
                  <a:srgbClr val="FFFFFF"/>
                </a:solidFill>
                <a:latin typeface="Arial Black" pitchFamily="34" charset="0"/>
                <a:ea typeface="Arial Black" pitchFamily="34" charset="-122"/>
                <a:cs typeface="Arial Black" pitchFamily="34" charset="-120"/>
              </a:rPr>
              <a:t>Next Steps</a:t>
            </a:r>
            <a:endParaRPr lang="en-US" sz="4200" dirty="0"/>
          </a:p>
        </p:txBody>
      </p:sp>
      <p:sp>
        <p:nvSpPr>
          <p:cNvPr id="6" name="Shape 3"/>
          <p:cNvSpPr/>
          <p:nvPr/>
        </p:nvSpPr>
        <p:spPr>
          <a:xfrm>
            <a:off x="5943600" y="1280160"/>
            <a:ext cx="54864" cy="731520"/>
          </a:xfrm>
          <a:prstGeom prst="rect">
            <a:avLst/>
          </a:prstGeom>
          <a:solidFill>
            <a:srgbClr val="27AE60"/>
          </a:solidFill>
          <a:ln w="12700">
            <a:solidFill>
              <a:srgbClr val="27AE60"/>
            </a:solidFill>
            <a:prstDash val="solid"/>
          </a:ln>
        </p:spPr>
      </p:sp>
      <p:sp>
        <p:nvSpPr>
          <p:cNvPr id="7" name="Text 4"/>
          <p:cNvSpPr/>
          <p:nvPr/>
        </p:nvSpPr>
        <p:spPr>
          <a:xfrm>
            <a:off x="6217920" y="1280160"/>
            <a:ext cx="5669280" cy="822960"/>
          </a:xfrm>
          <a:prstGeom prst="rect">
            <a:avLst/>
          </a:prstGeom>
          <a:noFill/>
          <a:ln/>
        </p:spPr>
        <p:txBody>
          <a:bodyPr wrap="square" rtlCol="0" anchor="ctr"/>
          <a:lstStyle/>
          <a:p>
            <a:pPr marL="0" indent="0">
              <a:buNone/>
            </a:pPr>
            <a:r>
              <a:rPr lang="en-US" sz="1500" dirty="0">
                <a:solidFill>
                  <a:srgbClr val="E8F5E9"/>
                </a:solidFill>
                <a:latin typeface="Calibri" pitchFamily="34" charset="0"/>
                <a:ea typeface="Calibri" pitchFamily="34" charset="-122"/>
                <a:cs typeface="Calibri" pitchFamily="34" charset="-120"/>
              </a:rPr>
              <a:t>Business requirements met through structured data analysis methods.</a:t>
            </a:r>
            <a:endParaRPr lang="en-US" sz="1500" dirty="0"/>
          </a:p>
        </p:txBody>
      </p:sp>
      <p:sp>
        <p:nvSpPr>
          <p:cNvPr id="8" name="Shape 5"/>
          <p:cNvSpPr/>
          <p:nvPr/>
        </p:nvSpPr>
        <p:spPr>
          <a:xfrm>
            <a:off x="5943600" y="2468880"/>
            <a:ext cx="54864" cy="731520"/>
          </a:xfrm>
          <a:prstGeom prst="rect">
            <a:avLst/>
          </a:prstGeom>
          <a:solidFill>
            <a:srgbClr val="27AE60"/>
          </a:solidFill>
          <a:ln w="12700">
            <a:solidFill>
              <a:srgbClr val="27AE60"/>
            </a:solidFill>
            <a:prstDash val="solid"/>
          </a:ln>
        </p:spPr>
      </p:sp>
      <p:sp>
        <p:nvSpPr>
          <p:cNvPr id="9" name="Text 6"/>
          <p:cNvSpPr/>
          <p:nvPr/>
        </p:nvSpPr>
        <p:spPr>
          <a:xfrm>
            <a:off x="6217920" y="2468880"/>
            <a:ext cx="5669280" cy="822960"/>
          </a:xfrm>
          <a:prstGeom prst="rect">
            <a:avLst/>
          </a:prstGeom>
          <a:noFill/>
          <a:ln/>
        </p:spPr>
        <p:txBody>
          <a:bodyPr wrap="square" rtlCol="0" anchor="ctr"/>
          <a:lstStyle/>
          <a:p>
            <a:pPr marL="0" indent="0">
              <a:buNone/>
            </a:pPr>
            <a:r>
              <a:rPr lang="en-US" sz="1500" dirty="0">
                <a:solidFill>
                  <a:srgbClr val="E8F5E9"/>
                </a:solidFill>
                <a:latin typeface="Calibri" pitchFamily="34" charset="0"/>
                <a:ea typeface="Calibri" pitchFamily="34" charset="-122"/>
                <a:cs typeface="Calibri" pitchFamily="34" charset="-120"/>
              </a:rPr>
              <a:t>Sales performance drivers and root causes identified.</a:t>
            </a:r>
            <a:endParaRPr lang="en-US" sz="1500" dirty="0"/>
          </a:p>
        </p:txBody>
      </p:sp>
      <p:sp>
        <p:nvSpPr>
          <p:cNvPr id="10" name="Shape 7"/>
          <p:cNvSpPr/>
          <p:nvPr/>
        </p:nvSpPr>
        <p:spPr>
          <a:xfrm>
            <a:off x="5943600" y="3657600"/>
            <a:ext cx="54864" cy="731520"/>
          </a:xfrm>
          <a:prstGeom prst="rect">
            <a:avLst/>
          </a:prstGeom>
          <a:solidFill>
            <a:srgbClr val="27AE60"/>
          </a:solidFill>
          <a:ln w="12700">
            <a:solidFill>
              <a:srgbClr val="27AE60"/>
            </a:solidFill>
            <a:prstDash val="solid"/>
          </a:ln>
        </p:spPr>
      </p:sp>
      <p:sp>
        <p:nvSpPr>
          <p:cNvPr id="11" name="Text 8"/>
          <p:cNvSpPr/>
          <p:nvPr/>
        </p:nvSpPr>
        <p:spPr>
          <a:xfrm>
            <a:off x="6217920" y="3657600"/>
            <a:ext cx="5669280" cy="822960"/>
          </a:xfrm>
          <a:prstGeom prst="rect">
            <a:avLst/>
          </a:prstGeom>
          <a:noFill/>
          <a:ln/>
        </p:spPr>
        <p:txBody>
          <a:bodyPr wrap="square" rtlCol="0" anchor="ctr"/>
          <a:lstStyle/>
          <a:p>
            <a:pPr marL="0" indent="0">
              <a:buNone/>
            </a:pPr>
            <a:r>
              <a:rPr lang="en-US" sz="1500" dirty="0">
                <a:solidFill>
                  <a:srgbClr val="E8F5E9"/>
                </a:solidFill>
                <a:latin typeface="Calibri" pitchFamily="34" charset="0"/>
                <a:ea typeface="Calibri" pitchFamily="34" charset="-122"/>
                <a:cs typeface="Calibri" pitchFamily="34" charset="-120"/>
              </a:rPr>
              <a:t>BCG and ROI models enable strategic product portfolio management.</a:t>
            </a:r>
            <a:endParaRPr lang="en-US" sz="1500" dirty="0"/>
          </a:p>
        </p:txBody>
      </p:sp>
      <p:sp>
        <p:nvSpPr>
          <p:cNvPr id="12" name="Shape 9"/>
          <p:cNvSpPr/>
          <p:nvPr/>
        </p:nvSpPr>
        <p:spPr>
          <a:xfrm>
            <a:off x="5943600" y="4846320"/>
            <a:ext cx="54864" cy="731520"/>
          </a:xfrm>
          <a:prstGeom prst="rect">
            <a:avLst/>
          </a:prstGeom>
          <a:solidFill>
            <a:srgbClr val="27AE60"/>
          </a:solidFill>
          <a:ln w="12700">
            <a:solidFill>
              <a:srgbClr val="27AE60"/>
            </a:solidFill>
            <a:prstDash val="solid"/>
          </a:ln>
        </p:spPr>
      </p:sp>
      <p:sp>
        <p:nvSpPr>
          <p:cNvPr id="13" name="Text 10"/>
          <p:cNvSpPr/>
          <p:nvPr/>
        </p:nvSpPr>
        <p:spPr>
          <a:xfrm>
            <a:off x="6217920" y="4846320"/>
            <a:ext cx="5669280" cy="822960"/>
          </a:xfrm>
          <a:prstGeom prst="rect">
            <a:avLst/>
          </a:prstGeom>
          <a:noFill/>
          <a:ln/>
        </p:spPr>
        <p:txBody>
          <a:bodyPr wrap="square" rtlCol="0" anchor="ctr"/>
          <a:lstStyle/>
          <a:p>
            <a:pPr marL="0" indent="0">
              <a:buNone/>
            </a:pPr>
            <a:r>
              <a:rPr lang="en-US" sz="1500" dirty="0">
                <a:solidFill>
                  <a:srgbClr val="E8F5E9"/>
                </a:solidFill>
                <a:latin typeface="Calibri" pitchFamily="34" charset="0"/>
                <a:ea typeface="Calibri" pitchFamily="34" charset="-122"/>
                <a:cs typeface="Calibri" pitchFamily="34" charset="-120"/>
              </a:rPr>
              <a:t>Ishikawa diagram guides continuous improvement initiatives.</a:t>
            </a:r>
            <a:endParaRPr lang="en-US" sz="1500" dirty="0"/>
          </a:p>
        </p:txBody>
      </p:sp>
      <p:sp>
        <p:nvSpPr>
          <p:cNvPr id="14" name="Shape 11"/>
          <p:cNvSpPr/>
          <p:nvPr/>
        </p:nvSpPr>
        <p:spPr>
          <a:xfrm>
            <a:off x="0" y="5943600"/>
            <a:ext cx="12188952" cy="914400"/>
          </a:xfrm>
          <a:prstGeom prst="rect">
            <a:avLst/>
          </a:prstGeom>
          <a:solidFill>
            <a:srgbClr val="1E8449">
              <a:alpha val="80000"/>
            </a:srgbClr>
          </a:solidFill>
          <a:ln w="12700">
            <a:solidFill>
              <a:srgbClr val="1E8449"/>
            </a:solidFill>
            <a:prstDash val="solid"/>
          </a:ln>
        </p:spPr>
      </p:sp>
      <p:sp>
        <p:nvSpPr>
          <p:cNvPr id="15" name="Text 12"/>
          <p:cNvSpPr/>
          <p:nvPr/>
        </p:nvSpPr>
        <p:spPr>
          <a:xfrm>
            <a:off x="457200" y="6035040"/>
            <a:ext cx="1124712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Dmart Analytics — Powering Retail Intelligence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844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109728"/>
            <a:ext cx="1645920" cy="822960"/>
          </a:xfrm>
          <a:prstGeom prst="rect">
            <a:avLst/>
          </a:prstGeom>
        </p:spPr>
      </p:pic>
      <p:sp>
        <p:nvSpPr>
          <p:cNvPr id="5" name="Text 2"/>
          <p:cNvSpPr/>
          <p:nvPr/>
        </p:nvSpPr>
        <p:spPr>
          <a:xfrm>
            <a:off x="1371600" y="2103120"/>
            <a:ext cx="9418320" cy="1463040"/>
          </a:xfrm>
          <a:prstGeom prst="rect">
            <a:avLst/>
          </a:prstGeom>
          <a:noFill/>
          <a:ln/>
          <a:effectLst>
            <a:outerShdw blurRad="190500" dist="50800" dir="16200000" algn="bl" rotWithShape="0">
              <a:srgbClr val="000000">
                <a:alpha val="75000"/>
              </a:srgbClr>
            </a:outerShdw>
          </a:effectLst>
        </p:spPr>
        <p:txBody>
          <a:bodyPr wrap="square" rtlCol="0" anchor="ctr"/>
          <a:lstStyle/>
          <a:p>
            <a:pPr marL="0" indent="0" algn="ctr">
              <a:buNone/>
            </a:pPr>
            <a:r>
              <a:rPr lang="en-US" sz="6400" b="1" dirty="0">
                <a:solidFill>
                  <a:srgbClr val="FFFFFF"/>
                </a:solidFill>
                <a:latin typeface="Arial Black" pitchFamily="34" charset="0"/>
                <a:ea typeface="Arial Black" pitchFamily="34" charset="-122"/>
                <a:cs typeface="Arial Black" pitchFamily="34" charset="-120"/>
              </a:rPr>
              <a:t>Thank You</a:t>
            </a:r>
            <a:endParaRPr lang="en-US" sz="6400" dirty="0"/>
          </a:p>
        </p:txBody>
      </p:sp>
      <p:sp>
        <p:nvSpPr>
          <p:cNvPr id="6" name="Text 3"/>
          <p:cNvSpPr/>
          <p:nvPr/>
        </p:nvSpPr>
        <p:spPr>
          <a:xfrm>
            <a:off x="1371600" y="3657600"/>
            <a:ext cx="9418320" cy="1097280"/>
          </a:xfrm>
          <a:prstGeom prst="rect">
            <a:avLst/>
          </a:prstGeom>
          <a:noFill/>
          <a:ln/>
        </p:spPr>
        <p:txBody>
          <a:bodyPr wrap="square" rtlCol="0" anchor="ctr"/>
          <a:lstStyle/>
          <a:p>
            <a:pPr marL="0" indent="0" algn="ctr">
              <a:buNone/>
            </a:pPr>
            <a:endParaRPr lang="en-US" sz="4400" dirty="0"/>
          </a:p>
        </p:txBody>
      </p:sp>
      <p:sp>
        <p:nvSpPr>
          <p:cNvPr id="7" name="Text 4"/>
          <p:cNvSpPr/>
          <p:nvPr/>
        </p:nvSpPr>
        <p:spPr>
          <a:xfrm>
            <a:off x="1371600" y="6035040"/>
            <a:ext cx="9418320" cy="45720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Dmart Analytics Team</a:t>
            </a:r>
            <a:endParaRPr lang="en-US" sz="1400" dirty="0"/>
          </a:p>
        </p:txBody>
      </p:sp>
      <p:sp>
        <p:nvSpPr>
          <p:cNvPr id="8" name="Oval 7">
            <a:extLst>
              <a:ext uri="{FF2B5EF4-FFF2-40B4-BE49-F238E27FC236}">
                <a16:creationId xmlns:a16="http://schemas.microsoft.com/office/drawing/2014/main" id="{B6D82C08-DD7F-19E7-5E8D-BA0F80754969}"/>
              </a:ext>
            </a:extLst>
          </p:cNvPr>
          <p:cNvSpPr/>
          <p:nvPr/>
        </p:nvSpPr>
        <p:spPr>
          <a:xfrm>
            <a:off x="2444726" y="365760"/>
            <a:ext cx="7272068" cy="5400136"/>
          </a:xfrm>
          <a:prstGeom prst="ellipse">
            <a:avLst/>
          </a:prstGeom>
          <a:noFill/>
          <a:ln w="9525"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style>
          <a:lnRef idx="0">
            <a:scrgbClr r="0" g="0" b="0"/>
          </a:lnRef>
          <a:fillRef idx="0">
            <a:scrgbClr r="0" g="0" b="0"/>
          </a:fillRef>
          <a:effectRef idx="0">
            <a:scrgbClr r="0" g="0" b="0"/>
          </a:effectRef>
          <a:fontRef idx="minor">
            <a:schemeClr val="accent6"/>
          </a:fontRef>
        </p:style>
        <p:txBody>
          <a:bodyPr rtlCol="0" anchor="ctr"/>
          <a:lstStyle/>
          <a:p>
            <a:pPr algn="ct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580</Words>
  <Application>Microsoft Office PowerPoint</Application>
  <PresentationFormat>Widescreen</PresentationFormat>
  <Paragraphs>102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akshat ugale</cp:lastModifiedBy>
  <cp:revision>1</cp:revision>
  <dcterms:created xsi:type="dcterms:W3CDTF">2026-05-27T10:42:32Z</dcterms:created>
  <dcterms:modified xsi:type="dcterms:W3CDTF">2026-05-27T10:54:11Z</dcterms:modified>
</cp:coreProperties>
</file>