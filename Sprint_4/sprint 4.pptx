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29A677E-27D8-4A2F-BE50-41D610DF69D7}" v="9" dt="2026-06-01T04:31:49.1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82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kshat ugale" userId="d79a3b3c97274f01" providerId="LiveId" clId="{50C1D5CD-AB29-419A-AD12-F8542267BD41}"/>
    <pc:docChg chg="custSel delSld modSld">
      <pc:chgData name="akshat ugale" userId="d79a3b3c97274f01" providerId="LiveId" clId="{50C1D5CD-AB29-419A-AD12-F8542267BD41}" dt="2026-06-01T04:32:01.533" v="68" actId="47"/>
      <pc:docMkLst>
        <pc:docMk/>
      </pc:docMkLst>
      <pc:sldChg chg="addSp delSp modSp mod">
        <pc:chgData name="akshat ugale" userId="d79a3b3c97274f01" providerId="LiveId" clId="{50C1D5CD-AB29-419A-AD12-F8542267BD41}" dt="2026-05-25T11:58:28.495" v="36" actId="1076"/>
        <pc:sldMkLst>
          <pc:docMk/>
          <pc:sldMk cId="0" sldId="256"/>
        </pc:sldMkLst>
        <pc:picChg chg="add mod">
          <ac:chgData name="akshat ugale" userId="d79a3b3c97274f01" providerId="LiveId" clId="{50C1D5CD-AB29-419A-AD12-F8542267BD41}" dt="2026-05-25T11:58:28.495" v="36" actId="1076"/>
          <ac:picMkLst>
            <pc:docMk/>
            <pc:sldMk cId="0" sldId="256"/>
            <ac:picMk id="28" creationId="{637427C1-18B5-7E82-4B28-15212CFD299C}"/>
          </ac:picMkLst>
        </pc:picChg>
      </pc:sldChg>
      <pc:sldChg chg="modSp del mod">
        <pc:chgData name="akshat ugale" userId="d79a3b3c97274f01" providerId="LiveId" clId="{50C1D5CD-AB29-419A-AD12-F8542267BD41}" dt="2026-06-01T04:32:01.533" v="68" actId="47"/>
        <pc:sldMkLst>
          <pc:docMk/>
          <pc:sldMk cId="0" sldId="260"/>
        </pc:sldMkLst>
        <pc:graphicFrameChg chg="mod">
          <ac:chgData name="akshat ugale" userId="d79a3b3c97274f01" providerId="LiveId" clId="{50C1D5CD-AB29-419A-AD12-F8542267BD41}" dt="2026-06-01T04:31:47.018" v="66"/>
          <ac:graphicFrameMkLst>
            <pc:docMk/>
            <pc:sldMk cId="0" sldId="260"/>
            <ac:graphicFrameMk id="6" creationId="{00000000-0000-0000-0000-000000000000}"/>
          </ac:graphicFrameMkLst>
        </pc:graphicFrameChg>
      </pc:sldChg>
      <pc:sldChg chg="modSp mod">
        <pc:chgData name="akshat ugale" userId="d79a3b3c97274f01" providerId="LiveId" clId="{50C1D5CD-AB29-419A-AD12-F8542267BD41}" dt="2026-05-25T12:37:48.119" v="63" actId="1076"/>
        <pc:sldMkLst>
          <pc:docMk/>
          <pc:sldMk cId="0" sldId="261"/>
        </pc:sldMkLst>
        <pc:spChg chg="mod">
          <ac:chgData name="akshat ugale" userId="d79a3b3c97274f01" providerId="LiveId" clId="{50C1D5CD-AB29-419A-AD12-F8542267BD41}" dt="2026-05-25T12:37:48.119" v="63" actId="1076"/>
          <ac:spMkLst>
            <pc:docMk/>
            <pc:sldMk cId="0" sldId="261"/>
            <ac:spMk id="9" creationId="{00000000-0000-0000-0000-000000000000}"/>
          </ac:spMkLst>
        </pc:spChg>
        <pc:spChg chg="mod">
          <ac:chgData name="akshat ugale" userId="d79a3b3c97274f01" providerId="LiveId" clId="{50C1D5CD-AB29-419A-AD12-F8542267BD41}" dt="2026-05-25T12:37:10.637" v="59" actId="20577"/>
          <ac:spMkLst>
            <pc:docMk/>
            <pc:sldMk cId="0" sldId="261"/>
            <ac:spMk id="10" creationId="{00000000-0000-0000-0000-000000000000}"/>
          </ac:spMkLst>
        </pc:spChg>
        <pc:spChg chg="mod">
          <ac:chgData name="akshat ugale" userId="d79a3b3c97274f01" providerId="LiveId" clId="{50C1D5CD-AB29-419A-AD12-F8542267BD41}" dt="2026-05-25T12:37:38.959" v="62" actId="1076"/>
          <ac:spMkLst>
            <pc:docMk/>
            <pc:sldMk cId="0" sldId="261"/>
            <ac:spMk id="17" creationId="{00000000-0000-0000-0000-000000000000}"/>
          </ac:spMkLst>
        </pc:spChg>
        <pc:spChg chg="mod">
          <ac:chgData name="akshat ugale" userId="d79a3b3c97274f01" providerId="LiveId" clId="{50C1D5CD-AB29-419A-AD12-F8542267BD41}" dt="2026-05-25T12:37:08.405" v="58" actId="20577"/>
          <ac:spMkLst>
            <pc:docMk/>
            <pc:sldMk cId="0" sldId="261"/>
            <ac:spMk id="18" creationId="{00000000-0000-0000-0000-000000000000}"/>
          </ac:spMkLst>
        </pc:spChg>
        <pc:spChg chg="mod">
          <ac:chgData name="akshat ugale" userId="d79a3b3c97274f01" providerId="LiveId" clId="{50C1D5CD-AB29-419A-AD12-F8542267BD41}" dt="2026-05-25T12:36:53.692" v="38" actId="20577"/>
          <ac:spMkLst>
            <pc:docMk/>
            <pc:sldMk cId="0" sldId="261"/>
            <ac:spMk id="23" creationId="{00000000-0000-0000-0000-000000000000}"/>
          </ac:spMkLst>
        </pc:spChg>
        <pc:spChg chg="mod">
          <ac:chgData name="akshat ugale" userId="d79a3b3c97274f01" providerId="LiveId" clId="{50C1D5CD-AB29-419A-AD12-F8542267BD41}" dt="2026-05-25T12:37:30.727" v="61" actId="1076"/>
          <ac:spMkLst>
            <pc:docMk/>
            <pc:sldMk cId="0" sldId="261"/>
            <ac:spMk id="25" creationId="{00000000-0000-0000-0000-000000000000}"/>
          </ac:spMkLst>
        </pc:spChg>
        <pc:spChg chg="mod">
          <ac:chgData name="akshat ugale" userId="d79a3b3c97274f01" providerId="LiveId" clId="{50C1D5CD-AB29-419A-AD12-F8542267BD41}" dt="2026-05-25T12:36:59.686" v="48" actId="20577"/>
          <ac:spMkLst>
            <pc:docMk/>
            <pc:sldMk cId="0" sldId="261"/>
            <ac:spMk id="26" creationId="{00000000-0000-0000-0000-000000000000}"/>
          </ac:spMkLst>
        </pc:spChg>
        <pc:spChg chg="mod">
          <ac:chgData name="akshat ugale" userId="d79a3b3c97274f01" providerId="LiveId" clId="{50C1D5CD-AB29-419A-AD12-F8542267BD41}" dt="2026-05-25T12:37:19.808" v="60" actId="1076"/>
          <ac:spMkLst>
            <pc:docMk/>
            <pc:sldMk cId="0" sldId="261"/>
            <ac:spMk id="33" creationId="{00000000-0000-0000-0000-000000000000}"/>
          </ac:spMkLst>
        </pc:spChg>
        <pc:spChg chg="mod">
          <ac:chgData name="akshat ugale" userId="d79a3b3c97274f01" providerId="LiveId" clId="{50C1D5CD-AB29-419A-AD12-F8542267BD41}" dt="2026-05-25T12:37:05.757" v="57" actId="20577"/>
          <ac:spMkLst>
            <pc:docMk/>
            <pc:sldMk cId="0" sldId="261"/>
            <ac:spMk id="34" creationId="{00000000-0000-0000-0000-000000000000}"/>
          </ac:spMkLst>
        </pc:spChg>
      </pc:sldChg>
      <pc:sldChg chg="delSp modSp mod">
        <pc:chgData name="akshat ugale" userId="d79a3b3c97274f01" providerId="LiveId" clId="{50C1D5CD-AB29-419A-AD12-F8542267BD41}" dt="2026-05-25T11:51:58.977" v="17" actId="20577"/>
        <pc:sldMkLst>
          <pc:docMk/>
          <pc:sldMk cId="0" sldId="262"/>
        </pc:sldMkLst>
        <pc:spChg chg="mod">
          <ac:chgData name="akshat ugale" userId="d79a3b3c97274f01" providerId="LiveId" clId="{50C1D5CD-AB29-419A-AD12-F8542267BD41}" dt="2026-05-25T11:51:44.460" v="12" actId="20577"/>
          <ac:spMkLst>
            <pc:docMk/>
            <pc:sldMk cId="0" sldId="262"/>
            <ac:spMk id="46" creationId="{00000000-0000-0000-0000-000000000000}"/>
          </ac:spMkLst>
        </pc:spChg>
        <pc:spChg chg="mod">
          <ac:chgData name="akshat ugale" userId="d79a3b3c97274f01" providerId="LiveId" clId="{50C1D5CD-AB29-419A-AD12-F8542267BD41}" dt="2026-05-25T11:51:47.855" v="13" actId="20577"/>
          <ac:spMkLst>
            <pc:docMk/>
            <pc:sldMk cId="0" sldId="262"/>
            <ac:spMk id="47" creationId="{00000000-0000-0000-0000-000000000000}"/>
          </ac:spMkLst>
        </pc:spChg>
        <pc:spChg chg="mod">
          <ac:chgData name="akshat ugale" userId="d79a3b3c97274f01" providerId="LiveId" clId="{50C1D5CD-AB29-419A-AD12-F8542267BD41}" dt="2026-05-25T11:51:58.977" v="17" actId="20577"/>
          <ac:spMkLst>
            <pc:docMk/>
            <pc:sldMk cId="0" sldId="262"/>
            <ac:spMk id="50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Regional Sales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A5C3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B76-4984-A650-ABFAFA5F790D}"/>
              </c:ext>
            </c:extLst>
          </c:dPt>
          <c:dPt>
            <c:idx val="1"/>
            <c:bubble3D val="0"/>
            <c:spPr>
              <a:solidFill>
                <a:srgbClr val="2E7D5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B76-4984-A650-ABFAFA5F790D}"/>
              </c:ext>
            </c:extLst>
          </c:dPt>
          <c:dPt>
            <c:idx val="2"/>
            <c:bubble3D val="0"/>
            <c:spPr>
              <a:solidFill>
                <a:srgbClr val="3D997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B76-4984-A650-ABFAFA5F790D}"/>
              </c:ext>
            </c:extLst>
          </c:dPt>
          <c:dPt>
            <c:idx val="3"/>
            <c:bubble3D val="0"/>
            <c:spPr>
              <a:solidFill>
                <a:srgbClr val="A8D5B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B76-4984-A650-ABFAFA5F790D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B76-4984-A650-ABFAFA5F790D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B76-4984-A650-ABFAFA5F790D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B76-4984-A650-ABFAFA5F790D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AB76-4984-A650-ABFAFA5F790D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34</c:v>
                </c:pt>
                <c:pt idx="1">
                  <c:v>28</c:v>
                </c:pt>
                <c:pt idx="2">
                  <c:v>22</c:v>
                </c:pt>
                <c:pt idx="3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B76-4984-A650-ABFAFA5F790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4A6E59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7FAF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7013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3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4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5C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65760" y="-365760"/>
            <a:ext cx="1645920" cy="1645920"/>
          </a:xfrm>
          <a:prstGeom prst="ellipse">
            <a:avLst/>
          </a:prstGeom>
          <a:solidFill>
            <a:srgbClr val="3D9970">
              <a:alpha val="50000"/>
            </a:srgbClr>
          </a:solidFill>
          <a:ln w="12700">
            <a:solidFill>
              <a:srgbClr val="3D9970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0" y="3474720"/>
            <a:ext cx="2011680" cy="2011680"/>
          </a:xfrm>
          <a:prstGeom prst="ellipse">
            <a:avLst/>
          </a:prstGeom>
          <a:solidFill>
            <a:srgbClr val="1A5C38">
              <a:alpha val="70000"/>
            </a:srgbClr>
          </a:solidFill>
          <a:ln w="12700">
            <a:solidFill>
              <a:srgbClr val="1A5C38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0" y="3291840"/>
            <a:ext cx="2560320" cy="2560320"/>
          </a:xfrm>
          <a:prstGeom prst="ellipse">
            <a:avLst/>
          </a:prstGeom>
          <a:solidFill>
            <a:srgbClr val="2E7D52">
              <a:alpha val="40000"/>
            </a:srgbClr>
          </a:solidFill>
          <a:ln w="12700">
            <a:solidFill>
              <a:srgbClr val="2E7D52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0" y="-182880"/>
            <a:ext cx="1463040" cy="1463040"/>
          </a:xfrm>
          <a:prstGeom prst="ellipse">
            <a:avLst/>
          </a:prstGeom>
          <a:solidFill>
            <a:srgbClr val="3D9970">
              <a:alpha val="50000"/>
            </a:srgbClr>
          </a:solidFill>
          <a:ln w="12700">
            <a:solidFill>
              <a:srgbClr val="3D9970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" y="146304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kern="0" spc="8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D·MART</a:t>
            </a:r>
            <a:endParaRPr lang="en-US" sz="22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365760"/>
            <a:ext cx="1005840" cy="10058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566160" y="73152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ANALYTICS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566160" y="1234440"/>
            <a:ext cx="5303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Calculating Revenue &amp;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Metrics in Excel</a:t>
            </a:r>
            <a:endParaRPr lang="en-US" sz="3000" dirty="0"/>
          </a:p>
        </p:txBody>
      </p:sp>
      <p:sp>
        <p:nvSpPr>
          <p:cNvPr id="11" name="Shape 8"/>
          <p:cNvSpPr/>
          <p:nvPr/>
        </p:nvSpPr>
        <p:spPr>
          <a:xfrm>
            <a:off x="3566160" y="2743200"/>
            <a:ext cx="5303520" cy="3657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566160" y="288036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Dataset Analysis using Dmart Sales Data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3566160" y="3657600"/>
            <a:ext cx="1645920" cy="685800"/>
          </a:xfrm>
          <a:prstGeom prst="rect">
            <a:avLst/>
          </a:prstGeom>
          <a:solidFill>
            <a:srgbClr val="3D9970">
              <a:alpha val="80000"/>
            </a:srgbClr>
          </a:solidFill>
          <a:ln w="12700">
            <a:solidFill>
              <a:srgbClr val="A8D5B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5888" y="3767328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005072" y="3730752"/>
            <a:ext cx="1170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15,345 Orders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5394960" y="3657600"/>
            <a:ext cx="1645920" cy="685800"/>
          </a:xfrm>
          <a:prstGeom prst="rect">
            <a:avLst/>
          </a:prstGeom>
          <a:solidFill>
            <a:srgbClr val="3D9970">
              <a:alpha val="80000"/>
            </a:srgbClr>
          </a:solidFill>
          <a:ln w="12700">
            <a:solidFill>
              <a:srgbClr val="A8D5B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4688" y="3767328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833872" y="3730752"/>
            <a:ext cx="1170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₹3.93 Cr Revenue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7223760" y="3657600"/>
            <a:ext cx="1645920" cy="685800"/>
          </a:xfrm>
          <a:prstGeom prst="rect">
            <a:avLst/>
          </a:prstGeom>
          <a:solidFill>
            <a:srgbClr val="3D9970">
              <a:alpha val="80000"/>
            </a:srgbClr>
          </a:solidFill>
          <a:ln w="12700">
            <a:solidFill>
              <a:srgbClr val="A8D5B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3488" y="3767328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62672" y="3730752"/>
            <a:ext cx="1170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Cities</a:t>
            </a:r>
            <a:endParaRPr lang="en-US" sz="950" dirty="0"/>
          </a:p>
        </p:txBody>
      </p:sp>
      <p:sp>
        <p:nvSpPr>
          <p:cNvPr id="22" name="Text 16"/>
          <p:cNvSpPr/>
          <p:nvPr/>
        </p:nvSpPr>
        <p:spPr>
          <a:xfrm>
            <a:off x="3566160" y="46634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Analytics Team  •  FY 2024–25</a:t>
            </a:r>
            <a:endParaRPr lang="en-US" sz="9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637427C1-18B5-7E82-4B28-15212CFD299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" y="1467708"/>
            <a:ext cx="2970093" cy="149756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828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164592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822960" y="5669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Sales Data — Key Statistics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256032" y="109728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B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56032" y="1097280"/>
            <a:ext cx="2697480" cy="164592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20624" y="1325880"/>
            <a:ext cx="594360" cy="594360"/>
          </a:xfrm>
          <a:prstGeom prst="ellipse">
            <a:avLst/>
          </a:prstGeom>
          <a:solidFill>
            <a:srgbClr val="E8F5ED"/>
          </a:solidFill>
          <a:ln w="12700">
            <a:solidFill>
              <a:srgbClr val="A8D5B5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" y="1389888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24712" y="128016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15,345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420624" y="190195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3200400" y="109728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B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200400" y="1097280"/>
            <a:ext cx="2697480" cy="164592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364992" y="1325880"/>
            <a:ext cx="594360" cy="594360"/>
          </a:xfrm>
          <a:prstGeom prst="ellipse">
            <a:avLst/>
          </a:prstGeom>
          <a:solidFill>
            <a:srgbClr val="E8F5ED"/>
          </a:solidFill>
          <a:ln w="12700">
            <a:solidFill>
              <a:srgbClr val="A8D5B5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0" y="1389888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069080" y="128016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₹3.93 Cr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3364992" y="190195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 Revenue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6144768" y="109728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B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144768" y="1097280"/>
            <a:ext cx="2697480" cy="164592"/>
          </a:xfrm>
          <a:prstGeom prst="rect">
            <a:avLst/>
          </a:prstGeom>
          <a:solidFill>
            <a:srgbClr val="3D9970"/>
          </a:solidFill>
          <a:ln w="12700">
            <a:solidFill>
              <a:srgbClr val="3D997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309360" y="1325880"/>
            <a:ext cx="594360" cy="594360"/>
          </a:xfrm>
          <a:prstGeom prst="ellipse">
            <a:avLst/>
          </a:prstGeom>
          <a:solidFill>
            <a:srgbClr val="E8F5ED"/>
          </a:solidFill>
          <a:ln w="12700">
            <a:solidFill>
              <a:srgbClr val="A8D5B5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3368" y="1389888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13448" y="128016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D99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₹68.7 L</a:t>
            </a:r>
            <a:endParaRPr lang="en-US" sz="2200" dirty="0"/>
          </a:p>
        </p:txBody>
      </p:sp>
      <p:sp>
        <p:nvSpPr>
          <p:cNvPr id="23" name="Text 17"/>
          <p:cNvSpPr/>
          <p:nvPr/>
        </p:nvSpPr>
        <p:spPr>
          <a:xfrm>
            <a:off x="6309360" y="190195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 Earned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256032" y="2670048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B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256032" y="2670048"/>
            <a:ext cx="2697480" cy="164592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20624" y="2898648"/>
            <a:ext cx="594360" cy="594360"/>
          </a:xfrm>
          <a:prstGeom prst="ellipse">
            <a:avLst/>
          </a:prstGeom>
          <a:solidFill>
            <a:srgbClr val="E8F5ED"/>
          </a:solidFill>
          <a:ln w="12700">
            <a:solidFill>
              <a:srgbClr val="A8D5B5"/>
            </a:solidFill>
            <a:prstDash val="solid"/>
          </a:ln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632" y="2962656"/>
            <a:ext cx="347472" cy="34747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124712" y="2852928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₹2,558.68</a:t>
            </a:r>
            <a:endParaRPr lang="en-US" sz="2200" dirty="0"/>
          </a:p>
        </p:txBody>
      </p:sp>
      <p:sp>
        <p:nvSpPr>
          <p:cNvPr id="29" name="Text 22"/>
          <p:cNvSpPr/>
          <p:nvPr/>
        </p:nvSpPr>
        <p:spPr>
          <a:xfrm>
            <a:off x="420624" y="34747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3200400" y="2670048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B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3200400" y="2670048"/>
            <a:ext cx="2697480" cy="164592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3364992" y="2898648"/>
            <a:ext cx="594360" cy="594360"/>
          </a:xfrm>
          <a:prstGeom prst="ellipse">
            <a:avLst/>
          </a:prstGeom>
          <a:solidFill>
            <a:srgbClr val="E8F5ED"/>
          </a:solidFill>
          <a:ln w="12700">
            <a:solidFill>
              <a:srgbClr val="A8D5B5"/>
            </a:solidFill>
            <a:prstDash val="solid"/>
          </a:ln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29000" y="2962656"/>
            <a:ext cx="347472" cy="34747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4069080" y="2852928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Cities</a:t>
            </a:r>
            <a:endParaRPr lang="en-US" sz="2200" dirty="0"/>
          </a:p>
        </p:txBody>
      </p:sp>
      <p:sp>
        <p:nvSpPr>
          <p:cNvPr id="35" name="Text 27"/>
          <p:cNvSpPr/>
          <p:nvPr/>
        </p:nvSpPr>
        <p:spPr>
          <a:xfrm>
            <a:off x="3364992" y="34747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 Covered</a:t>
            </a:r>
            <a:endParaRPr lang="en-US" sz="1000" dirty="0"/>
          </a:p>
        </p:txBody>
      </p:sp>
      <p:sp>
        <p:nvSpPr>
          <p:cNvPr id="36" name="Shape 28"/>
          <p:cNvSpPr/>
          <p:nvPr/>
        </p:nvSpPr>
        <p:spPr>
          <a:xfrm>
            <a:off x="6144768" y="2670048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B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6144768" y="2670048"/>
            <a:ext cx="2697480" cy="164592"/>
          </a:xfrm>
          <a:prstGeom prst="rect">
            <a:avLst/>
          </a:prstGeom>
          <a:solidFill>
            <a:srgbClr val="3D9970"/>
          </a:solidFill>
          <a:ln w="12700">
            <a:solidFill>
              <a:srgbClr val="3D9970"/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6309360" y="2898648"/>
            <a:ext cx="594360" cy="594360"/>
          </a:xfrm>
          <a:prstGeom prst="ellipse">
            <a:avLst/>
          </a:prstGeom>
          <a:solidFill>
            <a:srgbClr val="E8F5ED"/>
          </a:solidFill>
          <a:ln w="12700">
            <a:solidFill>
              <a:srgbClr val="A8D5B5"/>
            </a:solidFill>
            <a:prstDash val="solid"/>
          </a:ln>
        </p:spPr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73368" y="2962656"/>
            <a:ext cx="347472" cy="347472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7013448" y="2852928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D99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Regions</a:t>
            </a:r>
            <a:endParaRPr lang="en-US" sz="2200" dirty="0"/>
          </a:p>
        </p:txBody>
      </p:sp>
      <p:sp>
        <p:nvSpPr>
          <p:cNvPr id="41" name="Text 32"/>
          <p:cNvSpPr/>
          <p:nvPr/>
        </p:nvSpPr>
        <p:spPr>
          <a:xfrm>
            <a:off x="6309360" y="34747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 Served</a:t>
            </a:r>
            <a:endParaRPr lang="en-US" sz="1000" dirty="0"/>
          </a:p>
        </p:txBody>
      </p:sp>
      <p:sp>
        <p:nvSpPr>
          <p:cNvPr id="42" name="Shape 33"/>
          <p:cNvSpPr/>
          <p:nvPr/>
        </p:nvSpPr>
        <p:spPr>
          <a:xfrm>
            <a:off x="256032" y="4251960"/>
            <a:ext cx="8631936" cy="73152"/>
          </a:xfrm>
          <a:prstGeom prst="rect">
            <a:avLst/>
          </a:prstGeom>
          <a:solidFill>
            <a:srgbClr val="A8D5B5"/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43" name="Shape 34"/>
          <p:cNvSpPr/>
          <p:nvPr/>
        </p:nvSpPr>
        <p:spPr>
          <a:xfrm>
            <a:off x="256032" y="4251960"/>
            <a:ext cx="4846320" cy="73152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44" name="Text 35"/>
          <p:cNvSpPr/>
          <p:nvPr/>
        </p:nvSpPr>
        <p:spPr>
          <a:xfrm>
            <a:off x="256032" y="4370832"/>
            <a:ext cx="8631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6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vs Profit Ratio: 82.5% retained as net revenue</a:t>
            </a:r>
            <a:endParaRPr lang="en-US" sz="900" dirty="0"/>
          </a:p>
        </p:txBody>
      </p:sp>
      <p:sp>
        <p:nvSpPr>
          <p:cNvPr id="45" name="Shape 3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46" name="Text 37"/>
          <p:cNvSpPr/>
          <p:nvPr/>
        </p:nvSpPr>
        <p:spPr>
          <a:xfrm>
            <a:off x="274320" y="491032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BUSINESS ANALYTICS  •  DATASET OVERVIEW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2E7D52">
              <a:alpha val="30000"/>
            </a:srgbClr>
          </a:solidFill>
          <a:ln w="12700">
            <a:solidFill>
              <a:srgbClr val="2E7D52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57200" y="3840480"/>
            <a:ext cx="2286000" cy="2286000"/>
          </a:xfrm>
          <a:prstGeom prst="ellipse">
            <a:avLst/>
          </a:prstGeom>
          <a:solidFill>
            <a:srgbClr val="3D9970">
              <a:alpha val="50000"/>
            </a:srgbClr>
          </a:solidFill>
          <a:ln w="12700">
            <a:solidFill>
              <a:srgbClr val="3D9970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0" y="-274320"/>
            <a:ext cx="1645920" cy="1645920"/>
          </a:xfrm>
          <a:prstGeom prst="ellipse">
            <a:avLst/>
          </a:prstGeom>
          <a:solidFill>
            <a:srgbClr val="A8D5B5">
              <a:alpha val="50000"/>
            </a:srgbClr>
          </a:solidFill>
          <a:ln w="12700">
            <a:solidFill>
              <a:srgbClr val="A8D5B5">
                <a:alpha val="50000"/>
              </a:srgbClr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457200"/>
            <a:ext cx="914400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" y="150876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82880" y="256032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Goals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Analysis Framework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00400" y="365760"/>
            <a:ext cx="5669280" cy="749808"/>
          </a:xfrm>
          <a:prstGeom prst="rect">
            <a:avLst/>
          </a:prstGeom>
          <a:solidFill>
            <a:srgbClr val="E8F5ED"/>
          </a:solidFill>
          <a:ln w="12700">
            <a:solidFill>
              <a:srgbClr val="A8D5B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00400" y="365760"/>
            <a:ext cx="73152" cy="749808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337560" y="493776"/>
            <a:ext cx="457200" cy="457200"/>
          </a:xfrm>
          <a:prstGeom prst="ellipse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0712" y="566928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886200" y="4206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4224528" y="420624"/>
            <a:ext cx="45537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total revenue and profit margins across all product categories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200400" y="1261872"/>
            <a:ext cx="56692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B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200400" y="1261872"/>
            <a:ext cx="73152" cy="749808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3337560" y="1389888"/>
            <a:ext cx="457200" cy="457200"/>
          </a:xfrm>
          <a:prstGeom prst="ellipse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0712" y="1463040"/>
            <a:ext cx="237744" cy="23774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886200" y="1316736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4224528" y="1316736"/>
            <a:ext cx="45537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category-wise and region-wise sales performance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3200400" y="2157984"/>
            <a:ext cx="5669280" cy="749808"/>
          </a:xfrm>
          <a:prstGeom prst="rect">
            <a:avLst/>
          </a:prstGeom>
          <a:solidFill>
            <a:srgbClr val="E8F5ED"/>
          </a:solidFill>
          <a:ln w="12700">
            <a:solidFill>
              <a:srgbClr val="A8D5B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3200400" y="2157984"/>
            <a:ext cx="73152" cy="749808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3337560" y="2286000"/>
            <a:ext cx="457200" cy="457200"/>
          </a:xfrm>
          <a:prstGeom prst="ellipse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10712" y="2359152"/>
            <a:ext cx="237744" cy="23774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3886200" y="221284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4224528" y="2212848"/>
            <a:ext cx="45537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business reach across cities and regions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3200400" y="3054096"/>
            <a:ext cx="56692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B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3200400" y="3054096"/>
            <a:ext cx="73152" cy="749808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3337560" y="3182112"/>
            <a:ext cx="457200" cy="457200"/>
          </a:xfrm>
          <a:prstGeom prst="ellipse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10712" y="3255264"/>
            <a:ext cx="237744" cy="237744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3886200" y="310896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4224528" y="3108960"/>
            <a:ext cx="45537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Excel formulas: SUMIF, COUNTIF, and AVERAGEIF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3200400" y="3950208"/>
            <a:ext cx="5669280" cy="749808"/>
          </a:xfrm>
          <a:prstGeom prst="rect">
            <a:avLst/>
          </a:prstGeom>
          <a:solidFill>
            <a:srgbClr val="E8F5ED"/>
          </a:solidFill>
          <a:ln w="12700">
            <a:solidFill>
              <a:srgbClr val="A8D5B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3200400" y="3950208"/>
            <a:ext cx="73152" cy="749808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3337560" y="4078224"/>
            <a:ext cx="457200" cy="457200"/>
          </a:xfrm>
          <a:prstGeom prst="ellipse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10712" y="4151376"/>
            <a:ext cx="237744" cy="237744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3886200" y="400507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8" name="Text 30"/>
          <p:cNvSpPr/>
          <p:nvPr/>
        </p:nvSpPr>
        <p:spPr>
          <a:xfrm>
            <a:off x="4224528" y="4005072"/>
            <a:ext cx="45537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insights using charts and interactive dashboards</a:t>
            </a:r>
            <a:endParaRPr lang="en-US" sz="1100" dirty="0"/>
          </a:p>
        </p:txBody>
      </p:sp>
      <p:sp>
        <p:nvSpPr>
          <p:cNvPr id="39" name="Shape 3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40" name="Text 32"/>
          <p:cNvSpPr/>
          <p:nvPr/>
        </p:nvSpPr>
        <p:spPr>
          <a:xfrm>
            <a:off x="274320" y="491032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BUSINESS ANALYTICS  •  BUSINESS OBJECTIVES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5C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201168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16459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PERFORMANCE METRICS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960120" y="594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 — Real-time Business Insights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201168" y="1188720"/>
            <a:ext cx="1965960" cy="2194560"/>
          </a:xfrm>
          <a:prstGeom prst="rect">
            <a:avLst/>
          </a:prstGeom>
          <a:solidFill>
            <a:srgbClr val="2E7D52">
              <a:alpha val="80000"/>
            </a:srgbClr>
          </a:solidFill>
          <a:ln w="12700">
            <a:solidFill>
              <a:srgbClr val="3D997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01168" y="1188720"/>
            <a:ext cx="1965960" cy="10972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59536" y="1389888"/>
            <a:ext cx="658368" cy="658368"/>
          </a:xfrm>
          <a:prstGeom prst="ellipse">
            <a:avLst/>
          </a:prstGeom>
          <a:solidFill>
            <a:srgbClr val="1A5C38"/>
          </a:solidFill>
          <a:ln w="12700">
            <a:solidFill>
              <a:srgbClr val="F0A500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1481328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92608" y="2121408"/>
            <a:ext cx="1783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15,345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292608" y="2798064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292608" y="310896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Transactions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2414016" y="1188720"/>
            <a:ext cx="1965960" cy="2194560"/>
          </a:xfrm>
          <a:prstGeom prst="rect">
            <a:avLst/>
          </a:prstGeom>
          <a:solidFill>
            <a:srgbClr val="2E7D52">
              <a:alpha val="80000"/>
            </a:srgbClr>
          </a:solidFill>
          <a:ln w="12700">
            <a:solidFill>
              <a:srgbClr val="3D997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2414016" y="1188720"/>
            <a:ext cx="1965960" cy="109728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3072384" y="1389888"/>
            <a:ext cx="658368" cy="658368"/>
          </a:xfrm>
          <a:prstGeom prst="ellipse">
            <a:avLst/>
          </a:prstGeom>
          <a:solidFill>
            <a:srgbClr val="1A5C38"/>
          </a:solidFill>
          <a:ln w="12700">
            <a:solidFill>
              <a:srgbClr val="4CAF82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63824" y="1481328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505456" y="2121408"/>
            <a:ext cx="1783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₹3.93 Cr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2505456" y="2798064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REVENUE</a:t>
            </a:r>
            <a:endParaRPr lang="en-US" sz="850" dirty="0"/>
          </a:p>
        </p:txBody>
      </p:sp>
      <p:sp>
        <p:nvSpPr>
          <p:cNvPr id="19" name="Text 14"/>
          <p:cNvSpPr/>
          <p:nvPr/>
        </p:nvSpPr>
        <p:spPr>
          <a:xfrm>
            <a:off x="2505456" y="310896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Revenue</a:t>
            </a:r>
            <a:endParaRPr lang="en-US" sz="800" dirty="0"/>
          </a:p>
        </p:txBody>
      </p:sp>
      <p:sp>
        <p:nvSpPr>
          <p:cNvPr id="20" name="Shape 15"/>
          <p:cNvSpPr/>
          <p:nvPr/>
        </p:nvSpPr>
        <p:spPr>
          <a:xfrm>
            <a:off x="4626864" y="1188720"/>
            <a:ext cx="1965960" cy="2194560"/>
          </a:xfrm>
          <a:prstGeom prst="rect">
            <a:avLst/>
          </a:prstGeom>
          <a:solidFill>
            <a:srgbClr val="2E7D52">
              <a:alpha val="80000"/>
            </a:srgbClr>
          </a:solidFill>
          <a:ln w="12700">
            <a:solidFill>
              <a:srgbClr val="3D997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626864" y="1188720"/>
            <a:ext cx="1965960" cy="109728"/>
          </a:xfrm>
          <a:prstGeom prst="rect">
            <a:avLst/>
          </a:prstGeom>
          <a:solidFill>
            <a:srgbClr val="82C4A0"/>
          </a:solidFill>
          <a:ln w="12700">
            <a:solidFill>
              <a:srgbClr val="82C4A0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285232" y="1389888"/>
            <a:ext cx="658368" cy="658368"/>
          </a:xfrm>
          <a:prstGeom prst="ellipse">
            <a:avLst/>
          </a:prstGeom>
          <a:solidFill>
            <a:srgbClr val="1A5C38"/>
          </a:solidFill>
          <a:ln w="12700">
            <a:solidFill>
              <a:srgbClr val="82C4A0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76672" y="1481328"/>
            <a:ext cx="384048" cy="38404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718304" y="2121408"/>
            <a:ext cx="1783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₹68.7 L</a:t>
            </a:r>
            <a:endParaRPr lang="en-US" sz="2200" dirty="0"/>
          </a:p>
        </p:txBody>
      </p:sp>
      <p:sp>
        <p:nvSpPr>
          <p:cNvPr id="25" name="Text 19"/>
          <p:cNvSpPr/>
          <p:nvPr/>
        </p:nvSpPr>
        <p:spPr>
          <a:xfrm>
            <a:off x="4718304" y="2798064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82C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850" dirty="0"/>
          </a:p>
        </p:txBody>
      </p:sp>
      <p:sp>
        <p:nvSpPr>
          <p:cNvPr id="26" name="Text 20"/>
          <p:cNvSpPr/>
          <p:nvPr/>
        </p:nvSpPr>
        <p:spPr>
          <a:xfrm>
            <a:off x="4718304" y="310896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Profit Earned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6839712" y="1188720"/>
            <a:ext cx="1965960" cy="2194560"/>
          </a:xfrm>
          <a:prstGeom prst="rect">
            <a:avLst/>
          </a:prstGeom>
          <a:solidFill>
            <a:srgbClr val="2E7D52">
              <a:alpha val="80000"/>
            </a:srgbClr>
          </a:solidFill>
          <a:ln w="12700">
            <a:solidFill>
              <a:srgbClr val="3D997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839712" y="1188720"/>
            <a:ext cx="1965960" cy="10972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7498080" y="1389888"/>
            <a:ext cx="658368" cy="658368"/>
          </a:xfrm>
          <a:prstGeom prst="ellipse">
            <a:avLst/>
          </a:prstGeom>
          <a:solidFill>
            <a:srgbClr val="1A5C38"/>
          </a:solidFill>
          <a:ln w="12700">
            <a:solidFill>
              <a:srgbClr val="F0A500"/>
            </a:solidFill>
            <a:prstDash val="solid"/>
          </a:ln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89520" y="1481328"/>
            <a:ext cx="384048" cy="384048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6931152" y="2121408"/>
            <a:ext cx="1783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₹2,558</a:t>
            </a:r>
            <a:endParaRPr lang="en-US" sz="2200" dirty="0"/>
          </a:p>
        </p:txBody>
      </p:sp>
      <p:sp>
        <p:nvSpPr>
          <p:cNvPr id="32" name="Text 25"/>
          <p:cNvSpPr/>
          <p:nvPr/>
        </p:nvSpPr>
        <p:spPr>
          <a:xfrm>
            <a:off x="6931152" y="2798064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850" dirty="0"/>
          </a:p>
        </p:txBody>
      </p:sp>
      <p:sp>
        <p:nvSpPr>
          <p:cNvPr id="33" name="Text 26"/>
          <p:cNvSpPr/>
          <p:nvPr/>
        </p:nvSpPr>
        <p:spPr>
          <a:xfrm>
            <a:off x="6931152" y="310896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Transaction</a:t>
            </a:r>
            <a:endParaRPr lang="en-US" sz="800" dirty="0"/>
          </a:p>
        </p:txBody>
      </p:sp>
      <p:sp>
        <p:nvSpPr>
          <p:cNvPr id="34" name="Shape 27"/>
          <p:cNvSpPr/>
          <p:nvPr/>
        </p:nvSpPr>
        <p:spPr>
          <a:xfrm>
            <a:off x="1188720" y="3547872"/>
            <a:ext cx="2103120" cy="749808"/>
          </a:xfrm>
          <a:prstGeom prst="rect">
            <a:avLst/>
          </a:prstGeom>
          <a:solidFill>
            <a:srgbClr val="3D9970">
              <a:alpha val="60000"/>
            </a:srgbClr>
          </a:solidFill>
          <a:ln w="12700">
            <a:solidFill>
              <a:srgbClr val="A8D5B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16736" y="3675888"/>
            <a:ext cx="384048" cy="384048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1783080" y="3566160"/>
            <a:ext cx="960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37" name="Text 29"/>
          <p:cNvSpPr/>
          <p:nvPr/>
        </p:nvSpPr>
        <p:spPr>
          <a:xfrm>
            <a:off x="1783080" y="3968496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 Served</a:t>
            </a:r>
            <a:endParaRPr lang="en-US" sz="900" dirty="0"/>
          </a:p>
        </p:txBody>
      </p:sp>
      <p:sp>
        <p:nvSpPr>
          <p:cNvPr id="38" name="Shape 30"/>
          <p:cNvSpPr/>
          <p:nvPr/>
        </p:nvSpPr>
        <p:spPr>
          <a:xfrm>
            <a:off x="3611880" y="3547872"/>
            <a:ext cx="2103120" cy="749808"/>
          </a:xfrm>
          <a:prstGeom prst="rect">
            <a:avLst/>
          </a:prstGeom>
          <a:solidFill>
            <a:srgbClr val="3D9970">
              <a:alpha val="60000"/>
            </a:srgbClr>
          </a:solidFill>
          <a:ln w="12700">
            <a:solidFill>
              <a:srgbClr val="A8D5B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39896" y="3675888"/>
            <a:ext cx="384048" cy="384048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4206240" y="3566160"/>
            <a:ext cx="960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41" name="Text 32"/>
          <p:cNvSpPr/>
          <p:nvPr/>
        </p:nvSpPr>
        <p:spPr>
          <a:xfrm>
            <a:off x="4206240" y="3968496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 Served</a:t>
            </a:r>
            <a:endParaRPr lang="en-US" sz="900" dirty="0"/>
          </a:p>
        </p:txBody>
      </p:sp>
      <p:sp>
        <p:nvSpPr>
          <p:cNvPr id="42" name="Shape 33"/>
          <p:cNvSpPr/>
          <p:nvPr/>
        </p:nvSpPr>
        <p:spPr>
          <a:xfrm>
            <a:off x="6035040" y="3547872"/>
            <a:ext cx="2103120" cy="749808"/>
          </a:xfrm>
          <a:prstGeom prst="rect">
            <a:avLst/>
          </a:prstGeom>
          <a:solidFill>
            <a:srgbClr val="3D9970">
              <a:alpha val="60000"/>
            </a:srgbClr>
          </a:solidFill>
          <a:ln w="12700">
            <a:solidFill>
              <a:srgbClr val="A8D5B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43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63056" y="3675888"/>
            <a:ext cx="384048" cy="384048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6629400" y="3566160"/>
            <a:ext cx="960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17.5%</a:t>
            </a:r>
            <a:endParaRPr lang="en-US" sz="2000" dirty="0"/>
          </a:p>
        </p:txBody>
      </p:sp>
      <p:sp>
        <p:nvSpPr>
          <p:cNvPr id="45" name="Text 35"/>
          <p:cNvSpPr/>
          <p:nvPr/>
        </p:nvSpPr>
        <p:spPr>
          <a:xfrm>
            <a:off x="6629400" y="3968496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</a:t>
            </a:r>
            <a:endParaRPr lang="en-US" sz="900" dirty="0"/>
          </a:p>
        </p:txBody>
      </p:sp>
      <p:sp>
        <p:nvSpPr>
          <p:cNvPr id="46" name="Shape 3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47" name="Text 37"/>
          <p:cNvSpPr/>
          <p:nvPr/>
        </p:nvSpPr>
        <p:spPr>
          <a:xfrm>
            <a:off x="274320" y="491032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BUSINESS ANALYTICS  •  KEY PERFORMANCE METRICS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201168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16459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SALES DISTRIBUTION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822960" y="59436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Region-wise and City-wise Performance Breakdown</a:t>
            </a:r>
            <a:endParaRPr lang="en-US" sz="10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74320" y="1005840"/>
          <a:ext cx="365760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4297680" y="1024128"/>
            <a:ext cx="4572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B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4297680" y="1024128"/>
            <a:ext cx="73152" cy="685800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434840" y="1223337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Region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4480560" y="1371600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6766560" y="107899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₹1.34 Cr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6766560" y="1371600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6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34% share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4297680" y="1682496"/>
            <a:ext cx="4572000" cy="45720"/>
          </a:xfrm>
          <a:prstGeom prst="rect">
            <a:avLst/>
          </a:prstGeom>
          <a:solidFill>
            <a:srgbClr val="E8F5ED"/>
          </a:solidFill>
          <a:ln w="12700">
            <a:solidFill>
              <a:srgbClr val="E8F5ED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297680" y="1682496"/>
            <a:ext cx="1554480" cy="45720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297680" y="1847088"/>
            <a:ext cx="4572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B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297680" y="1847088"/>
            <a:ext cx="73152" cy="685800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434840" y="20299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Region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4480560" y="2194560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6766560" y="190195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₹1.10 Cr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6766560" y="2194560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6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 share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4297680" y="2505456"/>
            <a:ext cx="4572000" cy="45720"/>
          </a:xfrm>
          <a:prstGeom prst="rect">
            <a:avLst/>
          </a:prstGeom>
          <a:solidFill>
            <a:srgbClr val="E8F5ED"/>
          </a:solidFill>
          <a:ln w="12700">
            <a:solidFill>
              <a:srgbClr val="E8F5ED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4297680" y="2505456"/>
            <a:ext cx="1280160" cy="45720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297680" y="2670048"/>
            <a:ext cx="4572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B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4" name="Shape 20"/>
          <p:cNvSpPr/>
          <p:nvPr/>
        </p:nvSpPr>
        <p:spPr>
          <a:xfrm>
            <a:off x="4297680" y="2670048"/>
            <a:ext cx="73152" cy="685800"/>
          </a:xfrm>
          <a:prstGeom prst="rect">
            <a:avLst/>
          </a:prstGeom>
          <a:solidFill>
            <a:srgbClr val="3D9970"/>
          </a:solidFill>
          <a:ln w="12700">
            <a:solidFill>
              <a:srgbClr val="3D997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4434840" y="282876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Region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4480560" y="3017520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6766560" y="272491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3D99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₹0.86 Cr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6766560" y="3017520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6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 share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4297680" y="3328416"/>
            <a:ext cx="4572000" cy="45720"/>
          </a:xfrm>
          <a:prstGeom prst="rect">
            <a:avLst/>
          </a:prstGeom>
          <a:solidFill>
            <a:srgbClr val="E8F5ED"/>
          </a:solidFill>
          <a:ln w="12700">
            <a:solidFill>
              <a:srgbClr val="E8F5ED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4297680" y="3328416"/>
            <a:ext cx="1005840" cy="45720"/>
          </a:xfrm>
          <a:prstGeom prst="rect">
            <a:avLst/>
          </a:prstGeom>
          <a:solidFill>
            <a:srgbClr val="3D9970"/>
          </a:solidFill>
          <a:ln w="12700">
            <a:solidFill>
              <a:srgbClr val="3D9970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4297680" y="3493008"/>
            <a:ext cx="4572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B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4297680" y="3493008"/>
            <a:ext cx="73152" cy="685800"/>
          </a:xfrm>
          <a:prstGeom prst="rect">
            <a:avLst/>
          </a:prstGeom>
          <a:solidFill>
            <a:srgbClr val="82C4A0"/>
          </a:solidFill>
          <a:ln w="12700">
            <a:solidFill>
              <a:srgbClr val="82C4A0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4434840" y="3645843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Region</a:t>
            </a:r>
            <a:endParaRPr lang="en-US" sz="1100" dirty="0"/>
          </a:p>
        </p:txBody>
      </p:sp>
      <p:sp>
        <p:nvSpPr>
          <p:cNvPr id="34" name="Text 30"/>
          <p:cNvSpPr/>
          <p:nvPr/>
        </p:nvSpPr>
        <p:spPr>
          <a:xfrm>
            <a:off x="4480560" y="3840480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6766560" y="354787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82C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₹0.63 Cr</a:t>
            </a:r>
            <a:endParaRPr lang="en-US" sz="1200" dirty="0"/>
          </a:p>
        </p:txBody>
      </p:sp>
      <p:sp>
        <p:nvSpPr>
          <p:cNvPr id="36" name="Text 32"/>
          <p:cNvSpPr/>
          <p:nvPr/>
        </p:nvSpPr>
        <p:spPr>
          <a:xfrm>
            <a:off x="6766560" y="3840480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6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16% share</a:t>
            </a:r>
            <a:endParaRPr lang="en-US" sz="900" dirty="0"/>
          </a:p>
        </p:txBody>
      </p:sp>
      <p:sp>
        <p:nvSpPr>
          <p:cNvPr id="37" name="Shape 33"/>
          <p:cNvSpPr/>
          <p:nvPr/>
        </p:nvSpPr>
        <p:spPr>
          <a:xfrm>
            <a:off x="4297680" y="4151376"/>
            <a:ext cx="4572000" cy="45720"/>
          </a:xfrm>
          <a:prstGeom prst="rect">
            <a:avLst/>
          </a:prstGeom>
          <a:solidFill>
            <a:srgbClr val="E8F5ED"/>
          </a:solidFill>
          <a:ln w="12700">
            <a:solidFill>
              <a:srgbClr val="E8F5ED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4297680" y="4151376"/>
            <a:ext cx="731520" cy="45720"/>
          </a:xfrm>
          <a:prstGeom prst="rect">
            <a:avLst/>
          </a:prstGeom>
          <a:solidFill>
            <a:srgbClr val="82C4A0"/>
          </a:solidFill>
          <a:ln w="12700">
            <a:solidFill>
              <a:srgbClr val="82C4A0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274320" y="491032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BUSINESS ANALYTICS  •  REGIONAL DISTRIBUTION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201168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164592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FORMULAS USED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822960" y="59436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Analytics Toolkit — Core Functions &amp; Methods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228600" y="1005840"/>
            <a:ext cx="8686800" cy="694944"/>
          </a:xfrm>
          <a:prstGeom prst="rect">
            <a:avLst/>
          </a:prstGeom>
          <a:solidFill>
            <a:srgbClr val="E8F5ED"/>
          </a:solidFill>
          <a:ln w="12700">
            <a:solidFill>
              <a:srgbClr val="A8D5B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28600" y="1005840"/>
            <a:ext cx="347472" cy="694944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28600" y="1207008"/>
            <a:ext cx="347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58368" y="1097280"/>
            <a:ext cx="2926080" cy="512064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13232" y="1133856"/>
            <a:ext cx="28163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=SUM(range)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3639312" y="11887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913632" y="1115568"/>
            <a:ext cx="1463040" cy="475488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931920" y="1133856"/>
            <a:ext cx="142646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5486400" y="1097280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 all sales values to compute total revenue across entire dataset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228600" y="1801368"/>
            <a:ext cx="8686800" cy="694944"/>
          </a:xfrm>
          <a:prstGeom prst="rect">
            <a:avLst/>
          </a:prstGeom>
          <a:solidFill>
            <a:srgbClr val="F7FAF8"/>
          </a:solidFill>
          <a:ln w="12700">
            <a:solidFill>
              <a:srgbClr val="A8D5B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28600" y="1801368"/>
            <a:ext cx="347472" cy="694944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28600" y="2002536"/>
            <a:ext cx="347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8368" y="1892808"/>
            <a:ext cx="2926080" cy="512064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713232" y="1929384"/>
            <a:ext cx="28163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=AVERAGE(range)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3639312" y="1984248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3913632" y="1911096"/>
            <a:ext cx="1463040" cy="475488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931920" y="1929384"/>
            <a:ext cx="142646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5486400" y="1892808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Calculates mean transaction value to understand per-order performance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228600" y="2596896"/>
            <a:ext cx="8686800" cy="694944"/>
          </a:xfrm>
          <a:prstGeom prst="rect">
            <a:avLst/>
          </a:prstGeom>
          <a:solidFill>
            <a:srgbClr val="E8F5ED"/>
          </a:solidFill>
          <a:ln w="12700">
            <a:solidFill>
              <a:srgbClr val="A8D5B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228600" y="2596896"/>
            <a:ext cx="347472" cy="694944"/>
          </a:xfrm>
          <a:prstGeom prst="rect">
            <a:avLst/>
          </a:prstGeom>
          <a:solidFill>
            <a:srgbClr val="3D9970"/>
          </a:solidFill>
          <a:ln w="12700">
            <a:solidFill>
              <a:srgbClr val="3D997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28600" y="2798064"/>
            <a:ext cx="347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658368" y="2688336"/>
            <a:ext cx="2926080" cy="512064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713232" y="2724912"/>
            <a:ext cx="28163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=COUNTIF(range, criteria)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3639312" y="2779776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3913632" y="2706624"/>
            <a:ext cx="1463040" cy="475488"/>
          </a:xfrm>
          <a:prstGeom prst="rect">
            <a:avLst/>
          </a:prstGeom>
          <a:solidFill>
            <a:srgbClr val="3D9970"/>
          </a:solidFill>
          <a:ln w="12700">
            <a:solidFill>
              <a:srgbClr val="3D997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931920" y="2724912"/>
            <a:ext cx="142646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Count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5486400" y="2688336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records matching specific category criteria for frequency analysis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228600" y="3392424"/>
            <a:ext cx="8686800" cy="694944"/>
          </a:xfrm>
          <a:prstGeom prst="rect">
            <a:avLst/>
          </a:prstGeom>
          <a:solidFill>
            <a:srgbClr val="F7FAF8"/>
          </a:solidFill>
          <a:ln w="12700">
            <a:solidFill>
              <a:srgbClr val="A8D5B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228600" y="3392424"/>
            <a:ext cx="347472" cy="694944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228600" y="3593592"/>
            <a:ext cx="347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658368" y="3483864"/>
            <a:ext cx="2926080" cy="512064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Text 34"/>
          <p:cNvSpPr/>
          <p:nvPr/>
        </p:nvSpPr>
        <p:spPr>
          <a:xfrm>
            <a:off x="713232" y="3520440"/>
            <a:ext cx="28163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=SUMIF(range, criteria, sum_range)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3639312" y="3575304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9" name="Shape 36"/>
          <p:cNvSpPr/>
          <p:nvPr/>
        </p:nvSpPr>
        <p:spPr>
          <a:xfrm>
            <a:off x="3913632" y="3502152"/>
            <a:ext cx="1463040" cy="475488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3931920" y="3520440"/>
            <a:ext cx="142646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Sales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5486400" y="3483864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Sums sales values that meet given category conditions for targeted analysis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228600" y="4389120"/>
            <a:ext cx="347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6" name="Text 43"/>
          <p:cNvSpPr/>
          <p:nvPr/>
        </p:nvSpPr>
        <p:spPr>
          <a:xfrm>
            <a:off x="713232" y="4315968"/>
            <a:ext cx="28163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47" name="Text 44"/>
          <p:cNvSpPr/>
          <p:nvPr/>
        </p:nvSpPr>
        <p:spPr>
          <a:xfrm>
            <a:off x="3639312" y="4370832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49" name="Text 46"/>
          <p:cNvSpPr/>
          <p:nvPr/>
        </p:nvSpPr>
        <p:spPr>
          <a:xfrm>
            <a:off x="3931920" y="4315968"/>
            <a:ext cx="142646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&amp; Category Analysis</a:t>
            </a:r>
            <a:endParaRPr lang="en-US" sz="850" dirty="0"/>
          </a:p>
        </p:txBody>
      </p:sp>
      <p:sp>
        <p:nvSpPr>
          <p:cNvPr id="50" name="Text 47"/>
          <p:cNvSpPr/>
          <p:nvPr/>
        </p:nvSpPr>
        <p:spPr>
          <a:xfrm>
            <a:off x="5486400" y="4279392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274320" y="491032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BUSINESS ANALYTICS  •  EXCEL FORMULAS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5C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457200"/>
            <a:ext cx="3200400" cy="3200400"/>
          </a:xfrm>
          <a:prstGeom prst="ellipse">
            <a:avLst/>
          </a:prstGeom>
          <a:solidFill>
            <a:srgbClr val="2E7D52">
              <a:alpha val="40000"/>
            </a:srgbClr>
          </a:solidFill>
          <a:ln w="12700">
            <a:solidFill>
              <a:srgbClr val="2E7D52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2926080"/>
            <a:ext cx="2743200" cy="2743200"/>
          </a:xfrm>
          <a:prstGeom prst="ellipse">
            <a:avLst/>
          </a:prstGeom>
          <a:solidFill>
            <a:srgbClr val="3D9970">
              <a:alpha val="40000"/>
            </a:srgbClr>
          </a:solidFill>
          <a:ln w="12700">
            <a:solidFill>
              <a:srgbClr val="3D9970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0"/>
            <a:ext cx="1828800" cy="1828800"/>
          </a:xfrm>
          <a:prstGeom prst="ellipse">
            <a:avLst/>
          </a:prstGeom>
          <a:solidFill>
            <a:srgbClr val="A8D5B5">
              <a:alpha val="30000"/>
            </a:srgbClr>
          </a:solidFill>
          <a:ln w="12700">
            <a:solidFill>
              <a:srgbClr val="A8D5B5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286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6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548640"/>
            <a:ext cx="822960" cy="822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1371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3200400" y="2011680"/>
            <a:ext cx="2743200" cy="457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74320" y="2286000"/>
            <a:ext cx="4114800" cy="1005840"/>
          </a:xfrm>
          <a:prstGeom prst="rect">
            <a:avLst/>
          </a:prstGeom>
          <a:solidFill>
            <a:srgbClr val="2E7D52">
              <a:alpha val="70000"/>
            </a:srgbClr>
          </a:solidFill>
          <a:ln w="12700">
            <a:solidFill>
              <a:srgbClr val="3D997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74320" y="2286000"/>
            <a:ext cx="4114800" cy="9144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11480" y="2514600"/>
            <a:ext cx="548640" cy="548640"/>
          </a:xfrm>
          <a:prstGeom prst="ellipse">
            <a:avLst/>
          </a:prstGeom>
          <a:solidFill>
            <a:srgbClr val="1A5C38"/>
          </a:solidFill>
          <a:ln w="12700">
            <a:solidFill>
              <a:srgbClr val="F0A500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2578608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78992" y="2377440"/>
            <a:ext cx="32004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Dmart dataset provides strong insights into sales and profit performance across 4 regions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274320" y="3474720"/>
            <a:ext cx="4114800" cy="1005840"/>
          </a:xfrm>
          <a:prstGeom prst="rect">
            <a:avLst/>
          </a:prstGeom>
          <a:solidFill>
            <a:srgbClr val="2E7D52">
              <a:alpha val="70000"/>
            </a:srgbClr>
          </a:solidFill>
          <a:ln w="12700">
            <a:solidFill>
              <a:srgbClr val="3D997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274320" y="3474720"/>
            <a:ext cx="4114800" cy="9144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11480" y="3703320"/>
            <a:ext cx="548640" cy="548640"/>
          </a:xfrm>
          <a:prstGeom prst="ellipse">
            <a:avLst/>
          </a:prstGeom>
          <a:solidFill>
            <a:srgbClr val="1A5C38"/>
          </a:solidFill>
          <a:ln w="12700">
            <a:solidFill>
              <a:srgbClr val="F0A500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3767328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78992" y="3566160"/>
            <a:ext cx="32004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and high-performing categories contribute significantly to total revenue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754880" y="2286000"/>
            <a:ext cx="4114800" cy="1005840"/>
          </a:xfrm>
          <a:prstGeom prst="rect">
            <a:avLst/>
          </a:prstGeom>
          <a:solidFill>
            <a:srgbClr val="2E7D52">
              <a:alpha val="70000"/>
            </a:srgbClr>
          </a:solidFill>
          <a:ln w="12700">
            <a:solidFill>
              <a:srgbClr val="3D997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754880" y="2286000"/>
            <a:ext cx="4114800" cy="9144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892040" y="2514600"/>
            <a:ext cx="548640" cy="548640"/>
          </a:xfrm>
          <a:prstGeom prst="ellipse">
            <a:avLst/>
          </a:prstGeom>
          <a:solidFill>
            <a:srgbClr val="1A5C38"/>
          </a:solidFill>
          <a:ln w="12700">
            <a:solidFill>
              <a:srgbClr val="F0A500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6048" y="2578608"/>
            <a:ext cx="329184" cy="32918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559552" y="2377440"/>
            <a:ext cx="32004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formulas and pivot tables simplify complex business analytics workflows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754880" y="3474720"/>
            <a:ext cx="4114800" cy="1005840"/>
          </a:xfrm>
          <a:prstGeom prst="rect">
            <a:avLst/>
          </a:prstGeom>
          <a:solidFill>
            <a:srgbClr val="2E7D52">
              <a:alpha val="70000"/>
            </a:srgbClr>
          </a:solidFill>
          <a:ln w="12700">
            <a:solidFill>
              <a:srgbClr val="3D997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754880" y="3474720"/>
            <a:ext cx="4114800" cy="9144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892040" y="3703320"/>
            <a:ext cx="548640" cy="548640"/>
          </a:xfrm>
          <a:prstGeom prst="ellipse">
            <a:avLst/>
          </a:prstGeom>
          <a:solidFill>
            <a:srgbClr val="1A5C38"/>
          </a:solidFill>
          <a:ln w="12700">
            <a:solidFill>
              <a:srgbClr val="F0A500"/>
            </a:solidFill>
            <a:prstDash val="solid"/>
          </a:ln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56048" y="3767328"/>
            <a:ext cx="329184" cy="32918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559552" y="3566160"/>
            <a:ext cx="32004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 empowers management to make faster, data-driven decisions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274320" y="491032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BUSINESS ANALYTICS  •  FY 2024–25  •  Confidential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415</Words>
  <Application>Microsoft Office PowerPoint</Application>
  <PresentationFormat>On-screen Show (16:9)</PresentationFormat>
  <Paragraphs>119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Dmart Business Analytics</dc:title>
  <dc:subject>PptxGenJS Presentation</dc:subject>
  <dc:creator>PptxGenJS</dc:creator>
  <cp:lastModifiedBy>akshat ugale</cp:lastModifiedBy>
  <cp:revision>1</cp:revision>
  <dcterms:created xsi:type="dcterms:W3CDTF">2026-05-22T08:07:55Z</dcterms:created>
  <dcterms:modified xsi:type="dcterms:W3CDTF">2026-06-01T04:32:05Z</dcterms:modified>
</cp:coreProperties>
</file>